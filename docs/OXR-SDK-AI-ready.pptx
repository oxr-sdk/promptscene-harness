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60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1600200"/>
            <a:ext cx="8686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Pretendard"/>
              </a:rPr>
              <a:t>is OXR-SDK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852928"/>
            <a:ext cx="8686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Pretendard"/>
              </a:rPr>
              <a:t>AI ready?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4462272"/>
            <a:ext cx="9418319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645152"/>
            <a:ext cx="9326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2CFEC"/>
                </a:solidFill>
                <a:latin typeface="Pretendard"/>
              </a:rPr>
              <a:t>프레임워크의 AI 준비도 검증 — XRCollabDemo PromptScene 자율 빌드·검증 결과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0080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2CFEC"/>
                </a:solidFill>
                <a:latin typeface="Pretendard"/>
              </a:rPr>
              <a:t>OXR Research  ·  KISTI  · 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325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1E40A8"/>
                </a:solidFill>
                <a:latin typeface="Pretendard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3520440" y="1783080"/>
            <a:ext cx="13716" cy="3291839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2176272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40A8"/>
                </a:solidFill>
                <a:latin typeface="Pretendard"/>
              </a:rPr>
              <a:t>추진배경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33649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D94"/>
                </a:solidFill>
                <a:latin typeface="Pretendard"/>
              </a:rPr>
              <a:t>AI-ready 정의 및 패러다임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1148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40A8"/>
                </a:solidFill>
                <a:latin typeface="Pretendard"/>
              </a:rPr>
              <a:t>01  추진배경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8"/>
                </a:solidFill>
                <a:latin typeface="Pretendard"/>
              </a:rPr>
              <a:t>DX → AX : 새로운 병목,  새로운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349240" cy="516636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8"/>
                </a:solidFill>
                <a:latin typeface="Pretendard"/>
              </a:rPr>
              <a:t>DX 시대  →  AX 시대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5047488" cy="13716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D97706"/>
                </a:solidFill>
                <a:latin typeface="Pretendard"/>
              </a:rPr>
              <a:t>DX 시대의 병목</a:t>
            </a:r>
          </a:p>
          <a:p>
            <a:pPr algn="l">
              <a:lSpc>
                <a:spcPct val="170000"/>
              </a:lSpc>
            </a:pPr>
            <a:r>
              <a:rPr sz="1300" b="0" i="0">
                <a:solidFill>
                  <a:srgbClr val="33363D"/>
                </a:solidFill>
                <a:latin typeface="Pretendard"/>
              </a:rPr>
              <a:t>"사람이 이 코드를 짤 수 있나?"</a:t>
            </a:r>
          </a:p>
          <a:p>
            <a:pPr algn="l"/>
            <a:r>
              <a:rPr sz="700" b="0" i="0">
                <a:solidFill>
                  <a:srgbClr val="33363D"/>
                </a:solidFill>
                <a:latin typeface="Pretendard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300" b="1" i="0">
                <a:solidFill>
                  <a:srgbClr val="1E40A8"/>
                </a:solidFill>
                <a:latin typeface="Pretendard"/>
              </a:rPr>
              <a:t>▼  패러다임 전환  ▼</a:t>
            </a:r>
          </a:p>
          <a:p>
            <a:pPr algn="l"/>
            <a:r>
              <a:rPr sz="700" b="0" i="0">
                <a:solidFill>
                  <a:srgbClr val="33363D"/>
                </a:solidFill>
                <a:latin typeface="Pretendard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168A4E"/>
                </a:solidFill>
                <a:latin typeface="Pretendard"/>
              </a:rPr>
              <a:t>AX 시대의 병목</a:t>
            </a:r>
          </a:p>
          <a:p>
            <a:pPr algn="l">
              <a:lSpc>
                <a:spcPct val="170000"/>
              </a:lSpc>
            </a:pPr>
            <a:r>
              <a:rPr sz="1300" b="0" i="0">
                <a:solidFill>
                  <a:srgbClr val="33363D"/>
                </a:solidFill>
                <a:latin typeface="Pretendard"/>
              </a:rPr>
              <a:t>"AI 에이전트가 이 프레임워크를</a:t>
            </a:r>
          </a:p>
          <a:p>
            <a:pPr algn="l"/>
            <a:r>
              <a:rPr sz="1300" b="0" i="0">
                <a:solidFill>
                  <a:srgbClr val="33363D"/>
                </a:solidFill>
                <a:latin typeface="Pretendard"/>
              </a:rPr>
              <a:t>  성공적으로 쓸 수 있나?"</a:t>
            </a:r>
          </a:p>
          <a:p>
            <a:pPr algn="l"/>
            <a:r>
              <a:rPr sz="600" b="0" i="0">
                <a:solidFill>
                  <a:srgbClr val="33363D"/>
                </a:solidFill>
                <a:latin typeface="Pretendard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E40A8"/>
                </a:solidFill>
                <a:latin typeface="Pretendard"/>
              </a:rPr>
              <a:t>AI-ready = 경쟁 필수조건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532120" cy="516636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813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AI-ready 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FEC"/>
                </a:solidFill>
                <a:latin typeface="Pretendard"/>
              </a:rPr>
              <a:t>발표 전체의 평가 기준선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58568"/>
            <a:ext cx="5184647" cy="13716"/>
          </a:xfrm>
          <a:prstGeom prst="rect">
            <a:avLst/>
          </a:prstGeom>
          <a:solidFill>
            <a:srgbClr val="C2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51663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Spc>
                <a:spcPct val="170000"/>
              </a:l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"SDK의 문서+패키지만으로,</a:t>
            </a:r>
          </a:p>
          <a:p>
            <a:pPr algn="l">
              <a:lSpc>
                <a:spcPct val="170000"/>
              </a:l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  사람의 암묵지 없이,</a:t>
            </a:r>
          </a:p>
          <a:p>
            <a:pPr algn="l">
              <a:lSpc>
                <a:spcPct val="170000"/>
              </a:l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  AI 에이전트가</a:t>
            </a:r>
          </a:p>
          <a:p>
            <a:pPr algn="l">
              <a:lSpc>
                <a:spcPct val="170000"/>
              </a:lSpc>
            </a:pPr>
            <a:r>
              <a:rPr sz="1500" b="1" i="0">
                <a:solidFill>
                  <a:srgbClr val="C2CFEC"/>
                </a:solidFill>
                <a:latin typeface="Pretendard"/>
              </a:rPr>
              <a:t>  검증 가능하게 작동하는</a:t>
            </a:r>
          </a:p>
          <a:p>
            <a:pPr algn="l">
              <a:lSpc>
                <a:spcPct val="170000"/>
              </a:l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  산출물을 만들 수 있는 상태."</a:t>
            </a:r>
          </a:p>
          <a:p>
            <a:pPr algn="l"/>
            <a:r>
              <a:rPr sz="800" b="0" i="0">
                <a:solidFill>
                  <a:srgbClr val="33363D"/>
                </a:solidFill>
                <a:latin typeface="Pretendard"/>
              </a:rPr>
              <a:t/>
            </a:r>
          </a:p>
          <a:p>
            <a:pPr algn="l">
              <a:spcBef>
                <a:spcPts val="500"/>
              </a:spcBef>
              <a:lSpc>
                <a:spcPct val="160000"/>
              </a:lSpc>
            </a:pPr>
            <a:r>
              <a:rPr sz="1200" b="0" i="1">
                <a:solidFill>
                  <a:srgbClr val="C2CFEC"/>
                </a:solidFill>
                <a:latin typeface="Pretendard"/>
              </a:rPr>
              <a:t>핵심:  '그럴듯함'  ≠  '증명 가능함'</a:t>
            </a:r>
          </a:p>
          <a:p>
            <a:pPr algn="l">
              <a:spcBef>
                <a:spcPts val="400"/>
              </a:spcBef>
              <a:lSpc>
                <a:spcPct val="160000"/>
              </a:lSpc>
            </a:pPr>
            <a:r>
              <a:rPr sz="1200" b="0" i="1">
                <a:solidFill>
                  <a:srgbClr val="C2CFEC"/>
                </a:solidFill>
                <a:latin typeface="Pretendard"/>
              </a:rPr>
              <a:t>→ 이후 모든 주장의 기준선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1148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40A8"/>
                </a:solidFill>
                <a:latin typeface="Pretendard"/>
              </a:rPr>
              <a:t>01  추진배경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8"/>
                </a:solidFill>
                <a:latin typeface="Pretendard"/>
              </a:rPr>
              <a:t>정적 클론 vs 프롬프트 재생성 — 왜 다른가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201400" cy="438912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정적 클론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144475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프롬프트 재생성 (PromptScene)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842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63D"/>
                </a:solidFill>
                <a:latin typeface="Pretendard"/>
              </a:rPr>
              <a:t>지식 형태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8424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동결 스냅샷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9842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8A4E"/>
                </a:solidFill>
                <a:latin typeface="Pretendard"/>
              </a:rPr>
              <a:t>문서/계약(C1~C4)에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79"/>
            <a:ext cx="11201400" cy="566928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63D"/>
                </a:solidFill>
                <a:latin typeface="Pretendard"/>
              </a:rPr>
              <a:t>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57860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전체 수GB 클론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5786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8A4E"/>
                </a:solidFill>
                <a:latin typeface="Pretendard"/>
              </a:rPr>
              <a:t>핵심 문서 +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63239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7296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63D"/>
                </a:solidFill>
                <a:latin typeface="Pretendard"/>
              </a:rPr>
              <a:t>조합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7296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불가 — 통째로만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1729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8A4E"/>
                </a:solidFill>
                <a:latin typeface="Pretendard"/>
              </a:rPr>
              <a:t>조합 가능 (콘텐츠 모듈화)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11201400" cy="566928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76732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63D"/>
                </a:solidFill>
                <a:latin typeface="Pretendard"/>
              </a:rPr>
              <a:t>SDK 업데이트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76732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drift 발생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767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8A4E"/>
                </a:solidFill>
                <a:latin typeface="Pretendard"/>
              </a:rPr>
              <a:t>문서 갱신으로 동기화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51960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3616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63D"/>
                </a:solidFill>
                <a:latin typeface="Pretendard"/>
              </a:rPr>
              <a:t>암묵지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36168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은닉 (클론 안에 숨어있음)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361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8A4E"/>
                </a:solidFill>
                <a:latin typeface="Pretendard"/>
              </a:rPr>
              <a:t>구조적 검증으로 제거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46320"/>
            <a:ext cx="11201400" cy="566928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956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63D"/>
                </a:solidFill>
                <a:latin typeface="Pretendard"/>
              </a:rPr>
              <a:t>검증 기준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95604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동일 파일 여부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9560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8A4E"/>
                </a:solidFill>
                <a:latin typeface="Pretendard"/>
              </a:rPr>
              <a:t>C1~C4 불변식 충족 여부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577840"/>
            <a:ext cx="11201400" cy="96012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509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Pretendard"/>
              </a:rPr>
              <a:t>실증: 스포너 클론 발견 — 클론은 작동 이유를 숨긴다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167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DocRoom이 '됐던' 것은 Room.unity 스포너를 몰래 클론했기 때문. 순수 문서만으론 안 됐음. → 문서+프리팹(Room-PlayerSpawner.prefab)으로 메꿔 진짜 재현 가능하게 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325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1E40A8"/>
                </a:solidFill>
                <a:latin typeface="Pretendard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3520440" y="1783080"/>
            <a:ext cx="13716" cy="3291839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2176272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40A8"/>
                </a:solidFill>
                <a:latin typeface="Pretendard"/>
              </a:rPr>
              <a:t>추진내용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33649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D94"/>
                </a:solidFill>
                <a:latin typeface="Pretendard"/>
              </a:rPr>
              <a:t>자율 빌드 절차 및 콘텐츠 플러그인 아키텍처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1148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40A8"/>
                </a:solidFill>
                <a:latin typeface="Pretendard"/>
              </a:rPr>
              <a:t>02  추진내용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8"/>
                </a:solidFill>
                <a:latin typeface="Pretendard"/>
              </a:rPr>
              <a:t>패키지 문서 → MCP 자율 빌드 → 서버 빌드 → 구조적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89888"/>
            <a:ext cx="2834640" cy="507492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389888"/>
            <a:ext cx="2834640" cy="50292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etendard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463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패키지 문서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25786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63D"/>
                </a:solidFill>
                <a:latin typeface="Pretendard"/>
              </a:rPr>
              <a:t>OXR-SDK README + GitBook 공식 문서
→ c:\J_0\docs\*.md 하나로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3749039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40A8"/>
                </a:solidFill>
                <a:latin typeface="Pretendard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389888"/>
            <a:ext cx="2834640" cy="507492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89888"/>
            <a:ext cx="2834640" cy="50292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435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etendard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1463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자율 빌드  (AI + MCP)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029968"/>
            <a:ext cx="25786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63D"/>
                </a:solidFill>
                <a:latin typeface="Pretendard"/>
              </a:rPr>
              <a:t>Claude Code + Unity MCP (포트 27826)
→ 씬·스크립트·설정 자율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749039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40A8"/>
                </a:solidFill>
                <a:latin typeface="Pretendard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1389888"/>
            <a:ext cx="2834640" cy="507492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1389888"/>
            <a:ext cx="2834640" cy="50292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435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etendard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1463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서버 빌드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29968"/>
            <a:ext cx="25786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63D"/>
                </a:solidFill>
                <a:latin typeface="Pretendard"/>
              </a:rPr>
              <a:t>XumLobbyServerBuilderWindow reflection 호출
→ Master.exe + Room.exe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749039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40A8"/>
                </a:solidFill>
                <a:latin typeface="Pretendard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389888"/>
            <a:ext cx="2834640" cy="507492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389888"/>
            <a:ext cx="2834640" cy="50292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1435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retendard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4630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구조적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2029968"/>
            <a:ext cx="25786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63D"/>
                </a:solidFill>
                <a:latin typeface="Pretendard"/>
              </a:rPr>
              <a:t>C1~C4 불변식 + 런타임 로그 패턴 체크
→ 전부 통과 = AI-ready 판정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20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D94"/>
                </a:solidFill>
                <a:latin typeface="Pretendard"/>
              </a:rPr>
              <a:t>XRCollabDemo는 증거(evidence)다 — 주인공은 OXR-SDK + PromptScene 프레임워크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1148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40A8"/>
                </a:solidFill>
                <a:latin typeface="Pretendard"/>
              </a:rPr>
              <a:t>02  추진내용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8"/>
                </a:solidFill>
                <a:latin typeface="Pretendard"/>
              </a:rPr>
              <a:t>씬 계층 표준 + 조합 가능성 증거 — Ruler 파일럿 (Phase 2 완료)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532120" cy="516636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8"/>
                </a:solidFill>
                <a:latin typeface="Pretendard"/>
              </a:rPr>
              <a:t>씬 계층 표준 (Phase 2.5 완료)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01952"/>
            <a:ext cx="5193792" cy="13716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8"/>
                </a:solidFill>
                <a:latin typeface="Pretendard"/>
              </a:rPr>
              <a:t>===== SYSTEMS =====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Network · PlayerSpawner · RoomCore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43200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8D94"/>
                </a:solidFill>
                <a:latin typeface="Pretendard"/>
              </a:rPr>
              <a:t>===== ENVIRONMENT =====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Floor · Walls · Lighting · Camera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93008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38727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8D94"/>
                </a:solidFill>
                <a:latin typeface="Pretendard"/>
              </a:rPr>
              <a:t>===== UI =====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130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R-MasterCanvas · Launchpad (Phase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242816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6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8853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E"/>
                </a:solidFill>
                <a:latin typeface="Pretendard"/>
              </a:rPr>
              <a:t>===== FEATURES =====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62855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Ruler  ←  IToggleableContent  ✓ 실측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992624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3834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8D94"/>
                </a:solidFill>
                <a:latin typeface="Pretendard"/>
              </a:rPr>
              <a:t>===== _DYNAMIC =====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1266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아바타 Clone · 측정선 (런타임 생성)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371600"/>
            <a:ext cx="5349240" cy="2578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481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8A4E"/>
                </a:solidFill>
                <a:latin typeface="Pretendard"/>
              </a:rPr>
              <a:t>핵심 원칙 (UE5 Modular Game Features 동일)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1901952"/>
            <a:ext cx="5038344" cy="13716"/>
          </a:xfrm>
          <a:prstGeom prst="rect">
            <a:avLst/>
          </a:prstGeom>
          <a:solidFill>
            <a:srgbClr val="168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1984248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Spc>
                <a:spcPct val="165000"/>
              </a:lSpc>
            </a:pPr>
            <a:r>
              <a:rPr sz="1200" b="0" i="0">
                <a:solidFill>
                  <a:srgbClr val="33363D"/>
                </a:solidFill>
                <a:latin typeface="Pretendard"/>
              </a:rPr>
              <a:t>의존 방향: FEATURE → SYSTEMS (단방향)</a:t>
            </a:r>
          </a:p>
          <a:p>
            <a:pPr algn="l">
              <a:lSpc>
                <a:spcPct val="165000"/>
              </a:lSpc>
            </a:pPr>
            <a:r>
              <a:rPr sz="1200" b="0" i="0">
                <a:solidFill>
                  <a:srgbClr val="8A8D94"/>
                </a:solidFill>
                <a:latin typeface="Pretendard"/>
              </a:rPr>
              <a:t>SYSTEMS는 특정 FEATURE를 컴파일타임에 모름</a:t>
            </a:r>
          </a:p>
          <a:p>
            <a:pPr algn="l">
              <a:lSpc>
                <a:spcPct val="165000"/>
              </a:lSpc>
            </a:pPr>
            <a:r>
              <a:rPr sz="1200" b="0" i="1">
                <a:solidFill>
                  <a:srgbClr val="8A8D94"/>
                </a:solidFill>
                <a:latin typeface="Pretendard"/>
              </a:rPr>
              <a:t>판별: '빼도 안 깨지면 FEATURE'</a:t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168A4E"/>
                </a:solidFill>
                <a:latin typeface="Pretendard"/>
              </a:rPr>
              <a:t>→ 런타임 on/off + 프로젝트 간 이식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224528"/>
            <a:ext cx="5349240" cy="2313432"/>
          </a:xfrm>
          <a:prstGeom prst="rect">
            <a:avLst/>
          </a:prstGeom>
          <a:solidFill>
            <a:srgbClr val="EFF4FF"/>
          </a:solidFill>
          <a:ln w="9525">
            <a:solidFill>
              <a:srgbClr val="1E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3342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8"/>
                </a:solidFill>
                <a:latin typeface="Pretendard"/>
              </a:rPr>
              <a:t>Ruler 콘텐츠 파일럿 (Phase 2 완료 — 실측)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0528" y="4754880"/>
            <a:ext cx="5038344" cy="13716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828032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Spc>
                <a:spcPct val="165000"/>
              </a:lSpc>
            </a:pPr>
            <a:r>
              <a:rPr sz="1200" b="1" i="0">
                <a:solidFill>
                  <a:srgbClr val="33363D"/>
                </a:solidFill>
                <a:latin typeface="Pretendard"/>
              </a:rPr>
              <a:t>RulerContent : IToggleableContent</a:t>
            </a:r>
          </a:p>
          <a:p>
            <a:pPr algn="l">
              <a:lSpc>
                <a:spcPct val="165000"/>
              </a:lSpc>
            </a:pPr>
            <a:r>
              <a:rPr sz="1100" b="0" i="0">
                <a:solidFill>
                  <a:srgbClr val="8A8D94"/>
                </a:solidFill>
                <a:latin typeface="Pretendard"/>
              </a:rPr>
              <a:t>RoomCore.Instance에 자기등록 → SetEnabled(true)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68A4E"/>
                </a:solidFill>
                <a:latin typeface="Pretendard"/>
              </a:rPr>
              <a:t>두 점 측정선 + 거리 라벨:  4.00 m  (실측)</a:t>
            </a:r>
          </a:p>
          <a:p>
            <a:pPr algn="l">
              <a:spcBef>
                <a:spcPts val="300"/>
              </a:spcBef>
            </a:pPr>
            <a:r>
              <a:rPr sz="1100" b="0" i="1">
                <a:solidFill>
                  <a:srgbClr val="8A8D94"/>
                </a:solidFill>
                <a:latin typeface="Pretendard"/>
              </a:rPr>
              <a:t>DeepChairProject 앱레이어 의존 = 0 → 클린 재구현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325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1E40A8"/>
                </a:solidFill>
                <a:latin typeface="Pretendard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3520440" y="1783080"/>
            <a:ext cx="13716" cy="3291839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2176272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40A8"/>
                </a:solidFill>
                <a:latin typeface="Pretendard"/>
              </a:rPr>
              <a:t>검증결과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33649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D94"/>
                </a:solidFill>
                <a:latin typeface="Pretendard"/>
              </a:rPr>
              <a:t>작동 불변식 C1~C4 실측 발굴 및 런타임 증거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1148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40A8"/>
                </a:solidFill>
                <a:latin typeface="Pretendard"/>
              </a:rPr>
              <a:t>03  검증결과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8"/>
                </a:solidFill>
                <a:latin typeface="Pretendard"/>
              </a:rPr>
              <a:t>이 4개 중 하나라도 위반하면 룸이 안 돔 — 전부 실측으로 발굴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201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749808" cy="1170432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737360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53896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63D"/>
                </a:solidFill>
                <a:latin typeface="Pretendard"/>
              </a:rPr>
              <a:t>프리팹 컬렉션 일치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865376"/>
            <a:ext cx="4956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서버·클라 NetworkManager._spawnablePrefabs = DefaultPrefabObjects (동일)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1517904"/>
            <a:ext cx="5074920" cy="9144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824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  <a:latin typeface="Pretendard"/>
              </a:rPr>
              <a:t>위반 시:  입장은 되나 아바타 안 보임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8208" y="1453896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E"/>
                </a:solidFill>
                <a:latin typeface="Pretendard"/>
              </a:rPr>
              <a:t>✓ 실측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51760"/>
            <a:ext cx="11201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51760"/>
            <a:ext cx="749808" cy="1170432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999232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71576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63D"/>
                </a:solidFill>
                <a:latin typeface="Pretendard"/>
              </a:rPr>
              <a:t>플레이어 스포너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127248"/>
            <a:ext cx="4956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XumPlayerSpawner + Catalog(Desktop/UnityXR) — 반드시 프리팹 인스턴스화
Room-PlayerSpawner.prefab  (Assets/PromptScene/Prefabs/)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779776"/>
            <a:ext cx="5074920" cy="9144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94436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  <a:latin typeface="Pretendard"/>
              </a:rPr>
              <a:t>'Failed to confirm the access'  →  즉시 퇴장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8208" y="2715768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E"/>
                </a:solidFill>
                <a:latin typeface="Pretendard"/>
              </a:rPr>
              <a:t>✓ 실측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13631"/>
            <a:ext cx="11201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13631"/>
            <a:ext cx="749808" cy="1170432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261103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C3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977639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63D"/>
                </a:solidFill>
                <a:latin typeface="Pretendard"/>
              </a:rPr>
              <a:t>씬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389119"/>
            <a:ext cx="4956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R-RoomServer.DefaultScene: _onlineScene=&lt;룸경로&gt; / _offlineScene=Client.unity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4041647"/>
            <a:ext cx="5074920" cy="9144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  <a:latin typeface="Pretendard"/>
              </a:rPr>
              <a:t>위반 시:  로비 UI가 룸 위를 덮음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8208" y="3977639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E"/>
                </a:solidFill>
                <a:latin typeface="Pretendard"/>
              </a:rPr>
              <a:t>✓ 실측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75504"/>
            <a:ext cx="11201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175504"/>
            <a:ext cx="749808" cy="1170432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5522976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C4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52395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63D"/>
                </a:solidFill>
                <a:latin typeface="Pretendard"/>
              </a:rPr>
              <a:t>실행 토폴로지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5650992"/>
            <a:ext cx="49560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D94"/>
                </a:solidFill>
                <a:latin typeface="Pretendard"/>
              </a:rPr>
              <a:t>서버 = Master.exe + Room.exe (둘 다 필수)  /  에디터 = Client + Room 동시 로드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10528" y="5303520"/>
            <a:ext cx="5074920" cy="9144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46811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  <a:latin typeface="Pretendard"/>
              </a:rPr>
              <a:t>위반 시:  네트워크 씬 전환 미발동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8208" y="5239512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E"/>
                </a:solidFill>
                <a:latin typeface="Pretendard"/>
              </a:rPr>
              <a:t>✓ 실측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1148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40A8"/>
                </a:solidFill>
                <a:latin typeface="Pretendard"/>
              </a:rPr>
              <a:t>03  검증결과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8"/>
                </a:solidFill>
                <a:latin typeface="Pretendard"/>
              </a:rPr>
              <a:t>근거: PromptScene-progress-report.md §3-1  /  build-xumlobby-server.md 부록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88952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3794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371600"/>
            <a:ext cx="3794760" cy="438912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43560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서버 측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1874519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929384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Online Scene: BasicRoom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40487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A8"/>
                </a:solidFill>
                <a:latin typeface="Pretendard"/>
              </a:rPr>
              <a:t>씬 등록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843784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89864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Room registered successfully.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37413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A8"/>
                </a:solidFill>
                <a:latin typeface="Pretendard"/>
              </a:rPr>
              <a:t>Room-1A5C-ED20-3935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3813048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867911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Client 0 is successfully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34340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A8"/>
                </a:solidFill>
                <a:latin typeface="Pretendard"/>
              </a:rPr>
              <a:t>클라이언트 검증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4782312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837176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192.168.50.49:5000  /  :7777 (UDP)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31266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A8"/>
                </a:solidFill>
                <a:latin typeface="Pretendard"/>
              </a:rPr>
              <a:t>실측 IP·포트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5751576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806440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빌드 시간: ~48초 (캐시 상태)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28192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A8"/>
                </a:solidFill>
                <a:latin typeface="Pretendard"/>
              </a:rPr>
              <a:t>Master+Room 합산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1371600"/>
            <a:ext cx="3794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117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5112" y="1371600"/>
            <a:ext cx="3794760" cy="438912"/>
          </a:xfrm>
          <a:prstGeom prst="rect">
            <a:avLst/>
          </a:prstGeom>
          <a:solidFill>
            <a:srgbClr val="11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143560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에디터 클라이언트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1416" y="1874519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5" y="1929384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Client 씬 언로드됨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5" y="240487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72B8"/>
                </a:solidFill>
                <a:latin typeface="Pretendard"/>
              </a:rPr>
              <a:t>C3 로비 자동 소멸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71416" y="2843784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2855" y="289864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C-MasterCanvas 소멸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337413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72B8"/>
                </a:solidFill>
                <a:latin typeface="Pretendard"/>
              </a:rPr>
              <a:t>UI 자동 전환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71416" y="3813048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62855" y="3867911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NetworkObjects =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2855" y="434340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72B8"/>
                </a:solidFill>
                <a:latin typeface="Pretendard"/>
              </a:rPr>
              <a:t>실측 오브젝트 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71416" y="4782312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62855" y="4837176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Desktop(Clone)  owner=True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5" y="531266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72B8"/>
                </a:solidFill>
                <a:latin typeface="Pretendard"/>
              </a:rPr>
              <a:t>아바타 스폰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71416" y="5751576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5" y="5806440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scene = BasicRoom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2855" y="628192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72B8"/>
                </a:solidFill>
                <a:latin typeface="Pretendard"/>
              </a:rPr>
              <a:t>C1~C3 토폴로지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02752" y="1371600"/>
            <a:ext cx="3794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16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02752" y="1371600"/>
            <a:ext cx="3794760" cy="438912"/>
          </a:xfrm>
          <a:prstGeom prst="rect">
            <a:avLst/>
          </a:prstGeom>
          <a:solidFill>
            <a:srgbClr val="168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49056" y="143560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기능 검증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49056" y="1874519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1929384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아바타 카메라 활성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0496" y="2404872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8A4E"/>
                </a:solidFill>
                <a:latin typeface="Pretendard"/>
              </a:rPr>
              <a:t>게임뷰 정상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49056" y="2843784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289864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게임뷰에 룸 표시 (로비 없음)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0496" y="3374136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8A4E"/>
                </a:solidFill>
                <a:latin typeface="Pretendard"/>
              </a:rPr>
              <a:t>C3 완전 충족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49056" y="3813048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867911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WASD 이동 확인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34340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8A4E"/>
                </a:solidFill>
                <a:latin typeface="Pretendard"/>
              </a:rPr>
              <a:t>로코모션 동작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49056" y="4782312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4837176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Ruler 측정선:  4.00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0496" y="531266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8A4E"/>
                </a:solidFill>
                <a:latin typeface="Pretendard"/>
              </a:rPr>
              <a:t>콘텐츠 플러그인 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49056" y="5751576"/>
            <a:ext cx="3502152" cy="86868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0496" y="5806440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63D"/>
                </a:solidFill>
                <a:latin typeface="Pretendard"/>
              </a:rPr>
              <a:t>SetEnabled(true) 예외 없음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6281928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8A4E"/>
                </a:solidFill>
                <a:latin typeface="Pretendard"/>
              </a:rPr>
              <a:t>IToggleableContent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325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1E40A8"/>
                </a:solidFill>
                <a:latin typeface="Pretendard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3520440" y="1325880"/>
            <a:ext cx="13716" cy="512064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1389888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0A8"/>
                </a:solidFill>
                <a:latin typeface="Pretendard"/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956816"/>
            <a:ext cx="8229600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39" y="2029968"/>
            <a:ext cx="8229600" cy="1627632"/>
          </a:xfrm>
          <a:prstGeom prst="rect">
            <a:avLst/>
          </a:prstGeom>
          <a:solidFill>
            <a:srgbClr val="F0FDF4"/>
          </a:solidFill>
          <a:ln w="9525">
            <a:solidFill>
              <a:srgbClr val="16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39" y="2029968"/>
            <a:ext cx="73152" cy="1627632"/>
          </a:xfrm>
          <a:prstGeom prst="rect">
            <a:avLst/>
          </a:prstGeom>
          <a:solidFill>
            <a:srgbClr val="168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21762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40A8"/>
                </a:solidFill>
                <a:latin typeface="Pretendard"/>
              </a:rPr>
              <a:t>✓  OXR-SDK는 AI-ready 정의를 충족한다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706624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AI 에이전트가 SDK 문서만 보고, 검증 가능하게 작동하는 룸을 자율 빌드·검증했다. (BasicRoom 실측 완료)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822191"/>
            <a:ext cx="3977639" cy="2715768"/>
          </a:xfrm>
          <a:prstGeom prst="rect">
            <a:avLst/>
          </a:prstGeom>
          <a:solidFill>
            <a:srgbClr val="F0FDF4"/>
          </a:solidFill>
          <a:ln w="9525">
            <a:solidFill>
              <a:srgbClr val="16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3931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8A4E"/>
                </a:solidFill>
                <a:latin typeface="Pretendard"/>
              </a:rPr>
              <a:t>증명선 (Phase 0~2.5)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4389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✓ BasicRoom 자율 빌드·검증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482803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✓ C1~C4 불변식 전부 실측 발굴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52669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✓ 스포너 클론 갭 → 프리팹 해소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5705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✓ Ruler 4.00 m 콘텐츠 플러그인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6144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63D"/>
                </a:solidFill>
                <a:latin typeface="Pretendard"/>
              </a:rPr>
              <a:t>✓ 서버 빌드 자동화 (reflection)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3822191"/>
            <a:ext cx="4069080" cy="2715768"/>
          </a:xfrm>
          <a:prstGeom prst="rect">
            <a:avLst/>
          </a:prstGeom>
          <a:solidFill>
            <a:srgbClr val="EFF4FF"/>
          </a:solidFill>
          <a:ln w="9525">
            <a:solidFill>
              <a:srgbClr val="1E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931920"/>
            <a:ext cx="3730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A8"/>
                </a:solidFill>
                <a:latin typeface="Pretendard"/>
              </a:rPr>
              <a:t>로드맵선 (Phase 3~5)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89120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8"/>
                </a:solidFill>
                <a:latin typeface="Pretendard"/>
              </a:rPr>
              <a:t>Phase 3  런치패드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28031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8"/>
                </a:solidFill>
                <a:latin typeface="Pretendard"/>
              </a:rPr>
              <a:t>Phase 4  /RoomContent-* 스킬화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266944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A8"/>
                </a:solidFill>
                <a:latin typeface="Pretendard"/>
              </a:rPr>
              <a:t>Phase 5  자연어 → 룸 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705856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D94"/>
                </a:solidFill>
                <a:latin typeface="Pretendard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1447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⚠  자율 빌드 ≠ 자유 합성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325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1E40A8"/>
                </a:solidFill>
                <a:latin typeface="Pretendard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3520440" y="1325880"/>
            <a:ext cx="13716" cy="512064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49039" y="1389888"/>
            <a:ext cx="8183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40A8"/>
                </a:solidFill>
                <a:latin typeface="Pretendard"/>
              </a:rPr>
              <a:t>향후계획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956816"/>
            <a:ext cx="8229600" cy="13716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39" y="2029968"/>
            <a:ext cx="82296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13632" y="210312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E"/>
                </a:solidFill>
                <a:latin typeface="Pretendard"/>
              </a:rPr>
              <a:t>완료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8A4E"/>
                </a:solidFill>
                <a:latin typeface="Pretendard"/>
              </a:rPr>
              <a:t>✓ Phase 0  룸 베이스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8A4E"/>
                </a:solidFill>
                <a:latin typeface="Pretendard"/>
              </a:rPr>
              <a:t>✓ Phase 1  계약 규격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1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8A4E"/>
                </a:solidFill>
                <a:latin typeface="Pretendard"/>
              </a:rPr>
              <a:t>✓ Phase 2  Ruler 파일럿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8A4E"/>
                </a:solidFill>
                <a:latin typeface="Pretendard"/>
              </a:rPr>
              <a:t>✓ 2.5  씬 표준화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2633472"/>
            <a:ext cx="2633472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2633472"/>
            <a:ext cx="2633472" cy="457200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6883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Pretendard"/>
              </a:rPr>
              <a:t>개발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200400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63D"/>
                </a:solidFill>
                <a:latin typeface="Pretendard"/>
              </a:rPr>
              <a:t>런치패드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3675887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A8"/>
                </a:solidFill>
                <a:latin typeface="Pretendard"/>
              </a:rPr>
              <a:t>Layer: 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68" y="4005072"/>
            <a:ext cx="2450591" cy="13716"/>
          </a:xfrm>
          <a:prstGeom prst="rect">
            <a:avLst/>
          </a:prstGeom>
          <a:solidFill>
            <a:srgbClr val="1E4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4133087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registry → 아이콘 그리드 자동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4818888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스마트폰식 SetEnabled 토글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5504688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룸 안에서 기능을 on/off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633472"/>
            <a:ext cx="2633472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7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633472"/>
            <a:ext cx="2633472" cy="457200"/>
          </a:xfrm>
          <a:prstGeom prst="rect">
            <a:avLst/>
          </a:prstGeom>
          <a:solidFill>
            <a:srgbClr val="11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6883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Pretendard"/>
              </a:rPr>
              <a:t>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200400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63D"/>
                </a:solidFill>
                <a:latin typeface="Pretendard"/>
              </a:rPr>
              <a:t>스킬화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675887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72B8"/>
                </a:solidFill>
                <a:latin typeface="Pretendard"/>
              </a:rPr>
              <a:t>Layer: Authoring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4005072"/>
            <a:ext cx="2450592" cy="13716"/>
          </a:xfrm>
          <a:prstGeom prst="rect">
            <a:avLst/>
          </a:prstGeom>
          <a:solidFill>
            <a:srgbClr val="11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4133087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/RoomContent-&lt;feature&gt; 명령어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4818888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LLM 신규기능 생성 템플릿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5504688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AI가 새 콘텐츠 모듈을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633472"/>
            <a:ext cx="2633472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2633472"/>
            <a:ext cx="2633472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7" y="26883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Phase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Pretendard"/>
              </a:rPr>
              <a:t>로드맵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7" y="3200400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63D"/>
                </a:solidFill>
                <a:latin typeface="Pretendard"/>
              </a:rPr>
              <a:t>자연어→룸 합성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3675887"/>
            <a:ext cx="24505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  <a:latin typeface="Pretendard"/>
              </a:rPr>
              <a:t>Layer: Authoring+Runtime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45167" y="4005072"/>
            <a:ext cx="2450592" cy="137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1744" y="4133087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/promptscene : 자연어 → 룸 조립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4818888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C1~C4 + 콘텐츠 자동 검증 하네스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1744" y="5504688"/>
            <a:ext cx="243230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63D"/>
                </a:solidFill>
                <a:latin typeface="Pretendard"/>
              </a:rPr>
              <a:t>• DeepChairProject 기능 자연어 이식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64190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Pretendard"/>
              </a:rPr>
              <a:t>핵심 구분  —  Phase 3~4 : 자율 빌드 심화  |  Phase 5 : 자유 합성 (별도 단계)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