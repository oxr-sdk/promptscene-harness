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6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74519"/>
            <a:ext cx="1051560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Pretendard"/>
              </a:rPr>
              <a:t>OXR-SDK는 AI-Ready 되었는가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3429000"/>
            <a:ext cx="2834640" cy="411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703320"/>
            <a:ext cx="9692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Pretendard Light"/>
              </a:rPr>
              <a:t>정적 샘플에서 재생성 가능한 프레임워크로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722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Pretendard Light"/>
              </a:rPr>
              <a:t>OXR Research · KISTI · 2026-06-16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2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2A6F"/>
                </a:solidFill>
                <a:latin typeface="Pretendard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20624"/>
            <a:ext cx="9875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B2A6F"/>
                </a:solidFill>
                <a:latin typeface="Pretendard"/>
              </a:rPr>
              <a:t>주장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15568"/>
            <a:ext cx="11018520" cy="16459"/>
          </a:xfrm>
          <a:prstGeom prst="rect">
            <a:avLst/>
          </a:prstGeom>
          <a:solidFill>
            <a:srgbClr val="F2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828800"/>
            <a:ext cx="10469880" cy="2057400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121408"/>
            <a:ext cx="9921240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retendard"/>
              </a:rPr>
              <a:t>OXR-SDK의 AI-ready 가능성을 XRCollabDemo 위에서 검증했다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343400"/>
            <a:ext cx="104241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700" b="0">
                <a:solidFill>
                  <a:srgbClr val="0B2A6F"/>
                </a:solidFill>
                <a:latin typeface="Pretendard Light"/>
              </a:rPr>
              <a:t>• 검증 무대: 로비 · 룸 생성 · 네트워크 스폰 · 아바타 · 씬 전환이 모두 포함된 XRCollabDemo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700" b="0">
                <a:solidFill>
                  <a:srgbClr val="0B2A6F"/>
                </a:solidFill>
                <a:latin typeface="Pretendard Light"/>
              </a:rPr>
              <a:t>• 핵심 질문: OXR-SDK 위에서 XRCollabDemo 수준의 협업 룸을 정적 샘플 클론 없이 재생성할 수 있는가?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700" b="0">
                <a:solidFill>
                  <a:srgbClr val="0B2A6F"/>
                </a:solidFill>
                <a:latin typeface="Pretendard Light"/>
              </a:rPr>
              <a:t>• 결론: 문서 · 프롬프트 · 검증 기준으로 실제 작동함을 확인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2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2A6F"/>
                </a:solidFill>
                <a:latin typeface="Pretendard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20624"/>
            <a:ext cx="9875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B2A6F"/>
                </a:solidFill>
                <a:latin typeface="Pretendard"/>
              </a:rPr>
              <a:t>AI-Ready 정의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15568"/>
            <a:ext cx="11018520" cy="16459"/>
          </a:xfrm>
          <a:prstGeom prst="rect">
            <a:avLst/>
          </a:prstGeom>
          <a:solidFill>
            <a:srgbClr val="F2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828800"/>
            <a:ext cx="10469880" cy="2057400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121408"/>
            <a:ext cx="9921240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retendard"/>
              </a:rPr>
              <a:t>AI가 사람의 암묵지 없이 작동 산출물을 만들고 검증할 수 있는 상태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370832"/>
            <a:ext cx="1005840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800" b="0">
                <a:solidFill>
                  <a:srgbClr val="0B2A6F"/>
                </a:solidFill>
                <a:latin typeface="Pretendard Light"/>
              </a:rPr>
              <a:t>• AI가 읽고 실행할 수 있는 절차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800" b="0">
                <a:solidFill>
                  <a:srgbClr val="0B2A6F"/>
                </a:solidFill>
                <a:latin typeface="Pretendard Light"/>
              </a:rPr>
              <a:t>• 반드시 지켜야 하는 작동 조건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800" b="0">
                <a:solidFill>
                  <a:srgbClr val="0B2A6F"/>
                </a:solidFill>
                <a:latin typeface="Pretendard Light"/>
              </a:rPr>
              <a:t>• 결과를 판정할 수 있는 검증 기준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800" b="0">
                <a:solidFill>
                  <a:srgbClr val="0B2A6F"/>
                </a:solidFill>
                <a:latin typeface="Pretendard Light"/>
              </a:rPr>
              <a:t>• 실행 샘플이 아니라 재생성 가능한 레퍼런스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2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2A6F"/>
                </a:solidFill>
                <a:latin typeface="Pretendard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20624"/>
            <a:ext cx="9875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B2A6F"/>
                </a:solidFill>
                <a:latin typeface="Pretendard"/>
              </a:rPr>
              <a:t>AI-Ready 전과 후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15568"/>
            <a:ext cx="11018520" cy="16459"/>
          </a:xfrm>
          <a:prstGeom prst="rect">
            <a:avLst/>
          </a:prstGeom>
          <a:solidFill>
            <a:srgbClr val="F2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5349240" cy="4800600"/>
          </a:xfrm>
          <a:prstGeom prst="rect">
            <a:avLst/>
          </a:prstGeom>
          <a:solidFill>
            <a:srgbClr val="F2F0E8"/>
          </a:solidFill>
          <a:ln w="12700">
            <a:solidFill>
              <a:srgbClr val="F2F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72200" y="1508760"/>
            <a:ext cx="5349240" cy="4800600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4800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2A6F"/>
                </a:solidFill>
                <a:latin typeface="Pretendard"/>
              </a:rPr>
              <a:t>기존 샘플 방식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23160"/>
            <a:ext cx="4709160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700" b="0">
                <a:solidFill>
                  <a:srgbClr val="0B2A6F"/>
                </a:solidFill>
                <a:latin typeface="Pretendard Light"/>
              </a:rPr>
              <a:t>• XRCollabDemo 프로젝트 다운로드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700" b="0">
                <a:solidFill>
                  <a:srgbClr val="0B2A6F"/>
                </a:solidFill>
                <a:latin typeface="Pretendard Light"/>
              </a:rPr>
              <a:t>• 지식은 씬/프리팹 안에 암묵적으로 포함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700" b="0">
                <a:solidFill>
                  <a:srgbClr val="0B2A6F"/>
                </a:solidFill>
                <a:latin typeface="Pretendard Light"/>
              </a:rPr>
              <a:t>• AI는 기존 프로젝트를 열어 보고 따라 함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700" b="0">
                <a:solidFill>
                  <a:srgbClr val="0B2A6F"/>
                </a:solidFill>
                <a:latin typeface="Pretendard Light"/>
              </a:rPr>
              <a:t>• 실패 원인은 사람이 디버깅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783080"/>
            <a:ext cx="4800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retendard"/>
              </a:rPr>
              <a:t>AI-ready 방식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423160"/>
            <a:ext cx="4709160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700" b="0">
                <a:solidFill>
                  <a:srgbClr val="FFFFFF"/>
                </a:solidFill>
                <a:latin typeface="Pretendard Light"/>
              </a:rPr>
              <a:t>• OXR-SDK + 문서 + 프롬프트 + 검증 기준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700" b="0">
                <a:solidFill>
                  <a:srgbClr val="FFFFFF"/>
                </a:solidFill>
                <a:latin typeface="Pretendard Light"/>
              </a:rPr>
              <a:t>• 절차 · 불변식 · 씬 토폴로지로 외부화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700" b="0">
                <a:solidFill>
                  <a:srgbClr val="FFFFFF"/>
                </a:solidFill>
                <a:latin typeface="Pretendard Light"/>
              </a:rPr>
              <a:t>• AI가 새 룸을 조립 · 빌드 · 검증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700" b="0">
                <a:solidFill>
                  <a:srgbClr val="FFFFFF"/>
                </a:solidFill>
                <a:latin typeface="Pretendard Light"/>
              </a:rPr>
              <a:t>• 조건 위반 여부로 판정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2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2A6F"/>
                </a:solidFill>
                <a:latin typeface="Pretendard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20624"/>
            <a:ext cx="9875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B2A6F"/>
                </a:solidFill>
                <a:latin typeface="Pretendard"/>
              </a:rPr>
              <a:t>OXR-SDK 구성요소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15568"/>
            <a:ext cx="11018520" cy="16459"/>
          </a:xfrm>
          <a:prstGeom prst="rect">
            <a:avLst/>
          </a:prstGeom>
          <a:solidFill>
            <a:srgbClr val="F2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554480"/>
            <a:ext cx="10561320" cy="667512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55064"/>
            <a:ext cx="2774289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retendard"/>
              </a:rPr>
              <a:t>구성요소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9857" y="1655064"/>
            <a:ext cx="742127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retendard"/>
              </a:rPr>
              <a:t>역할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221991"/>
            <a:ext cx="10561320" cy="667512"/>
          </a:xfrm>
          <a:prstGeom prst="rect">
            <a:avLst/>
          </a:prstGeom>
          <a:solidFill>
            <a:srgbClr val="F2F0E8"/>
          </a:solidFill>
          <a:ln w="12700">
            <a:solidFill>
              <a:srgbClr val="F2F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322575"/>
            <a:ext cx="2774289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B2A6F"/>
                </a:solidFill>
                <a:latin typeface="Pretendard Light"/>
              </a:rPr>
              <a:t>com.oxr.sdk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9857" y="2322575"/>
            <a:ext cx="742127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B2A6F"/>
                </a:solidFill>
                <a:latin typeface="Pretendard Light"/>
              </a:rPr>
              <a:t>인증, 에셋 스토어, 파일 스토리지, 룸 관리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889504"/>
            <a:ext cx="1056132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990088"/>
            <a:ext cx="2774289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B2A6F"/>
                </a:solidFill>
                <a:latin typeface="Pretendard Light"/>
              </a:rPr>
              <a:t>XumLobby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9857" y="2990088"/>
            <a:ext cx="742127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B2A6F"/>
                </a:solidFill>
                <a:latin typeface="Pretendard Light"/>
              </a:rPr>
              <a:t>로비 UI, 룸 생성, 룸 진입, 룸 씬 전환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557015"/>
            <a:ext cx="10561320" cy="667512"/>
          </a:xfrm>
          <a:prstGeom prst="rect">
            <a:avLst/>
          </a:prstGeom>
          <a:solidFill>
            <a:srgbClr val="F2F0E8"/>
          </a:solidFill>
          <a:ln w="12700">
            <a:solidFill>
              <a:srgbClr val="F2F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657599"/>
            <a:ext cx="2774289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B2A6F"/>
                </a:solidFill>
                <a:latin typeface="Pretendard Light"/>
              </a:rPr>
              <a:t>XumNet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9857" y="3657599"/>
            <a:ext cx="742127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B2A6F"/>
                </a:solidFill>
                <a:latin typeface="Pretendard Light"/>
              </a:rPr>
              <a:t>네트워크 오브젝트 생성과 스폰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224528"/>
            <a:ext cx="1056132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325112"/>
            <a:ext cx="2774289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B2A6F"/>
                </a:solidFill>
                <a:latin typeface="Pretendard Light"/>
              </a:rPr>
              <a:t>UnifiedXRMotion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9857" y="4325112"/>
            <a:ext cx="742127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B2A6F"/>
                </a:solidFill>
                <a:latin typeface="Pretendard Light"/>
              </a:rPr>
              <a:t>플랫폼별 아바타와 모션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486400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B2A6F"/>
                </a:solidFill>
                <a:latin typeface="Pretendard"/>
              </a:rPr>
              <a:t>검증 관점: 데모 하나가 실행되는가가 아니라, 이 레이어들이 AI가 읽고 조립할 수 있는 형태인가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2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2A6F"/>
                </a:solidFill>
                <a:latin typeface="Pretendard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20624"/>
            <a:ext cx="9875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B2A6F"/>
                </a:solidFill>
                <a:latin typeface="Pretendard"/>
              </a:rPr>
              <a:t>검증 방법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15568"/>
            <a:ext cx="11018520" cy="16459"/>
          </a:xfrm>
          <a:prstGeom prst="rect">
            <a:avLst/>
          </a:prstGeom>
          <a:solidFill>
            <a:srgbClr val="F2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324612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B2A6F"/>
                </a:solidFill>
                <a:latin typeface="Pretendar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8892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2A6F"/>
                </a:solidFill>
                <a:latin typeface="Pretendard"/>
              </a:rPr>
              <a:t>문서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01568"/>
            <a:ext cx="28346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0B2A6F"/>
                </a:solidFill>
                <a:latin typeface="Pretendard Light"/>
              </a:rPr>
              <a:t>OXR-SDK 문서와 패키지 확인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26280" y="1828800"/>
            <a:ext cx="324612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20574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B2A6F"/>
                </a:solidFill>
                <a:latin typeface="Pretendar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78892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2A6F"/>
                </a:solidFill>
                <a:latin typeface="Pretendard"/>
              </a:rPr>
              <a:t>조건 정리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401568"/>
            <a:ext cx="28346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0B2A6F"/>
                </a:solidFill>
                <a:latin typeface="Pretendard Light"/>
              </a:rPr>
              <a:t>작동 조건을 절차와 불변식으로 정리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828800"/>
            <a:ext cx="324612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20574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B2A6F"/>
                </a:solidFill>
                <a:latin typeface="Pretendar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78892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2A6F"/>
                </a:solidFill>
                <a:latin typeface="Pretendard"/>
              </a:rPr>
              <a:t>AI 실행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401568"/>
            <a:ext cx="28346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0B2A6F"/>
                </a:solidFill>
                <a:latin typeface="Pretendard Light"/>
              </a:rPr>
              <a:t>AI + MCP만으로 새 룸 생성 · 빌드 · 검증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5321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0B2A6F"/>
                </a:solidFill>
                <a:latin typeface="Pretendard Light"/>
              </a:rPr>
              <a:t>환경: Claude Code · Unity MCP 27826 · XRCollabDemo · Unity 6000.3.11f1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2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2A6F"/>
                </a:solidFill>
                <a:latin typeface="Pretendard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20624"/>
            <a:ext cx="9875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B2A6F"/>
                </a:solidFill>
                <a:latin typeface="Pretendard"/>
              </a:rPr>
              <a:t>작동 불변식 C1~C4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15568"/>
            <a:ext cx="11018520" cy="16459"/>
          </a:xfrm>
          <a:prstGeom prst="rect">
            <a:avLst/>
          </a:prstGeom>
          <a:solidFill>
            <a:srgbClr val="F2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600200"/>
            <a:ext cx="10561320" cy="832103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00784"/>
            <a:ext cx="1506931" cy="685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retendard"/>
              </a:rPr>
              <a:t>조건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22499" y="1700784"/>
            <a:ext cx="8688628" cy="685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retendard"/>
              </a:rPr>
              <a:t>내용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432304"/>
            <a:ext cx="10561320" cy="832103"/>
          </a:xfrm>
          <a:prstGeom prst="rect">
            <a:avLst/>
          </a:prstGeom>
          <a:solidFill>
            <a:srgbClr val="F2F0E8"/>
          </a:solidFill>
          <a:ln w="12700">
            <a:solidFill>
              <a:srgbClr val="F2F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532888"/>
            <a:ext cx="1506931" cy="685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B2A6F"/>
                </a:solidFill>
                <a:latin typeface="Pretendard Light"/>
              </a:rPr>
              <a:t>C1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22499" y="2532888"/>
            <a:ext cx="8688628" cy="685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B2A6F"/>
                </a:solidFill>
                <a:latin typeface="Pretendard Light"/>
              </a:rPr>
              <a:t>서버와 클라이언트의 네트워크 프리팹 컬렉션 일치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264408"/>
            <a:ext cx="10561320" cy="83210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364991"/>
            <a:ext cx="1506931" cy="685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B2A6F"/>
                </a:solidFill>
                <a:latin typeface="Pretendard Light"/>
              </a:rPr>
              <a:t>C2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2499" y="3364991"/>
            <a:ext cx="8688628" cy="685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B2A6F"/>
                </a:solidFill>
                <a:latin typeface="Pretendard Light"/>
              </a:rPr>
              <a:t>플레이어 스폰은 지정 스포너 프리팹과 플랫폼별 아바타 카탈로그 사용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096511"/>
            <a:ext cx="10561320" cy="832103"/>
          </a:xfrm>
          <a:prstGeom prst="rect">
            <a:avLst/>
          </a:prstGeom>
          <a:solidFill>
            <a:srgbClr val="F2F0E8"/>
          </a:solidFill>
          <a:ln w="12700">
            <a:solidFill>
              <a:srgbClr val="F2F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197096"/>
            <a:ext cx="1506931" cy="685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B2A6F"/>
                </a:solidFill>
                <a:latin typeface="Pretendard Light"/>
              </a:rPr>
              <a:t>C3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22499" y="4197096"/>
            <a:ext cx="8688628" cy="685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B2A6F"/>
                </a:solidFill>
                <a:latin typeface="Pretendard Light"/>
              </a:rPr>
              <a:t>룸 진입/이탈 시 로비 씬과 룸 씬이 정확히 전환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928616"/>
            <a:ext cx="10561320" cy="83210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5029200"/>
            <a:ext cx="1506931" cy="685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B2A6F"/>
                </a:solidFill>
                <a:latin typeface="Pretendard Light"/>
              </a:rPr>
              <a:t>C4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22499" y="5029200"/>
            <a:ext cx="8688628" cy="685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B2A6F"/>
                </a:solidFill>
                <a:latin typeface="Pretendard Light"/>
              </a:rPr>
              <a:t>서버는 Master+Room, 에디터는 Client+Room 흐름 기준으로 검증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053328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B2A6F"/>
                </a:solidFill>
                <a:latin typeface="Pretendard"/>
              </a:rPr>
              <a:t>의미: 암묵지를 AI가 판정 가능한 조건으로 외부화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6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Pretendard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420624"/>
            <a:ext cx="9875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retendard"/>
              </a:rPr>
              <a:t>검증 결과 — 서버와 입장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11018520" cy="164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102412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200" b="0">
                <a:solidFill>
                  <a:srgbClr val="FFFFFF"/>
                </a:solidFill>
                <a:latin typeface="Pretendard Light"/>
              </a:rPr>
              <a:t>• `Online Scene: BasicRoom`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200" b="0">
                <a:solidFill>
                  <a:srgbClr val="FFFFFF"/>
                </a:solidFill>
                <a:latin typeface="Pretendard Light"/>
              </a:rPr>
              <a:t>• `Client 0 is successfully validated`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200" b="0">
                <a:solidFill>
                  <a:srgbClr val="FFFFFF"/>
                </a:solidFill>
                <a:latin typeface="Pretendard Light"/>
              </a:rPr>
              <a:t>• 마스터 서버 192.168.50.49:5000 listening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200" b="0">
                <a:solidFill>
                  <a:srgbClr val="FFFFFF"/>
                </a:solidFill>
                <a:latin typeface="Pretendard Light"/>
              </a:rPr>
              <a:t>• 룸 서버 :7777에서 방 등록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200" b="0">
                <a:solidFill>
                  <a:srgbClr val="FFFFFF"/>
                </a:solidFill>
                <a:latin typeface="Pretendard Light"/>
              </a:rPr>
              <a:t>• Room-1A5C-ED20-3935 / ID 0 / 최대 10명 / Public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806440"/>
            <a:ext cx="10241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Pretendard"/>
              </a:rPr>
              <a:t>의미: 룸 생성, 서버 등록, 클라이언트 입장 흐름이 실제 동작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2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2A6F"/>
                </a:solidFill>
                <a:latin typeface="Pretendard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20624"/>
            <a:ext cx="9875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B2A6F"/>
                </a:solidFill>
                <a:latin typeface="Pretendard"/>
              </a:rPr>
              <a:t>검증 결과 — 씬 전환과 아바타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15568"/>
            <a:ext cx="11018520" cy="16459"/>
          </a:xfrm>
          <a:prstGeom prst="rect">
            <a:avLst/>
          </a:prstGeom>
          <a:solidFill>
            <a:srgbClr val="F2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5349240" cy="4800600"/>
          </a:xfrm>
          <a:prstGeom prst="rect">
            <a:avLst/>
          </a:prstGeom>
          <a:solidFill>
            <a:srgbClr val="F2F0E8"/>
          </a:solidFill>
          <a:ln w="12700">
            <a:solidFill>
              <a:srgbClr val="F2F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72200" y="1508760"/>
            <a:ext cx="5349240" cy="4800600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4800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2A6F"/>
                </a:solidFill>
                <a:latin typeface="Pretendard"/>
              </a:rPr>
              <a:t>씬 전환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23160"/>
            <a:ext cx="4709160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700" b="0">
                <a:solidFill>
                  <a:srgbClr val="0B2A6F"/>
                </a:solidFill>
                <a:latin typeface="Pretendard Light"/>
              </a:rPr>
              <a:t>• Client 씬 언로드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700" b="0">
                <a:solidFill>
                  <a:srgbClr val="0B2A6F"/>
                </a:solidFill>
                <a:latin typeface="Pretendard Light"/>
              </a:rPr>
              <a:t>• BasicRoom 로드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700" b="0">
                <a:solidFill>
                  <a:srgbClr val="0B2A6F"/>
                </a:solidFill>
                <a:latin typeface="Pretendard Light"/>
              </a:rPr>
              <a:t>• 로비 UI C-MasterCanvas 제거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700" b="0">
                <a:solidFill>
                  <a:srgbClr val="0B2A6F"/>
                </a:solidFill>
                <a:latin typeface="Pretendard Light"/>
              </a:rPr>
              <a:t>• 별도 수동 처리 없이 룸 입장 흐름 유지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783080"/>
            <a:ext cx="4800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retendard"/>
              </a:rPr>
              <a:t>아바타 스폰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423160"/>
            <a:ext cx="4709160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700" b="0">
                <a:solidFill>
                  <a:srgbClr val="FFFFFF"/>
                </a:solidFill>
                <a:latin typeface="Pretendard Light"/>
              </a:rPr>
              <a:t>• NetworkObjects=5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700" b="0">
                <a:solidFill>
                  <a:srgbClr val="FFFFFF"/>
                </a:solidFill>
                <a:latin typeface="Pretendard Light"/>
              </a:rPr>
              <a:t>• Desktop(Clone)이 scene=BasicRoom에 위치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700" b="0">
                <a:solidFill>
                  <a:srgbClr val="FFFFFF"/>
                </a:solidFill>
                <a:latin typeface="Pretendard Light"/>
              </a:rPr>
              <a:t>• mixamorig:Hips와 플랫폼 루트도 BasicRoom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700" b="0">
                <a:solidFill>
                  <a:srgbClr val="FFFFFF"/>
                </a:solidFill>
                <a:latin typeface="Pretendard Light"/>
              </a:rPr>
              <a:t>• 아바타 카메라 활성, 게임뷰에 룸 표시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2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2A6F"/>
                </a:solidFill>
                <a:latin typeface="Pretendard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20624"/>
            <a:ext cx="9875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B2A6F"/>
                </a:solidFill>
                <a:latin typeface="Pretendard"/>
              </a:rPr>
              <a:t>증명 매핑 — 기준과 증거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15568"/>
            <a:ext cx="11018520" cy="16459"/>
          </a:xfrm>
          <a:prstGeom prst="rect">
            <a:avLst/>
          </a:prstGeom>
          <a:solidFill>
            <a:srgbClr val="F2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11384280" cy="751114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517904"/>
            <a:ext cx="3801617" cy="604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Pretendard"/>
              </a:rPr>
              <a:t>AI-ready 판단 기준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5705" y="1517904"/>
            <a:ext cx="3687775" cy="604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Pretendard"/>
              </a:rPr>
              <a:t>실제 증거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76361" y="1517904"/>
            <a:ext cx="3346246" cy="604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Pretendard"/>
              </a:rPr>
              <a:t>의미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168434"/>
            <a:ext cx="11384280" cy="751114"/>
          </a:xfrm>
          <a:prstGeom prst="rect">
            <a:avLst/>
          </a:prstGeom>
          <a:solidFill>
            <a:srgbClr val="F2F0E8"/>
          </a:solidFill>
          <a:ln w="12700">
            <a:solidFill>
              <a:srgbClr val="F2F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" y="2269018"/>
            <a:ext cx="3801617" cy="604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B2A6F"/>
                </a:solidFill>
                <a:latin typeface="Pretendard Light"/>
              </a:rPr>
              <a:t>AI가 룸을 만들 수 있는가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5705" y="2269018"/>
            <a:ext cx="3687775" cy="604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B2A6F"/>
                </a:solidFill>
                <a:latin typeface="Pretendard Light"/>
              </a:rPr>
              <a:t>MCP로 BasicRoom 생성/빌드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76361" y="2269018"/>
            <a:ext cx="3346246" cy="604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B2A6F"/>
                </a:solidFill>
                <a:latin typeface="Pretendard Light"/>
              </a:rPr>
              <a:t>절차가 실행 가능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919548"/>
            <a:ext cx="11384280" cy="75111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" y="3020132"/>
            <a:ext cx="3801617" cy="604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B2A6F"/>
                </a:solidFill>
                <a:latin typeface="Pretendard Light"/>
              </a:rPr>
              <a:t>서버에 등록되는가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5705" y="3020132"/>
            <a:ext cx="3687775" cy="604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B2A6F"/>
                </a:solidFill>
                <a:latin typeface="Pretendard Light"/>
              </a:rPr>
              <a:t>Online Scene, Room registered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6361" y="3020132"/>
            <a:ext cx="3346246" cy="604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B2A6F"/>
                </a:solidFill>
                <a:latin typeface="Pretendard Light"/>
              </a:rPr>
              <a:t>XumLobby 흐름 동작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670662"/>
            <a:ext cx="11384280" cy="751114"/>
          </a:xfrm>
          <a:prstGeom prst="rect">
            <a:avLst/>
          </a:prstGeom>
          <a:solidFill>
            <a:srgbClr val="F2F0E8"/>
          </a:solidFill>
          <a:ln w="12700">
            <a:solidFill>
              <a:srgbClr val="F2F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" y="3771246"/>
            <a:ext cx="3801617" cy="604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B2A6F"/>
                </a:solidFill>
                <a:latin typeface="Pretendard Light"/>
              </a:rPr>
              <a:t>입장이 검증되는가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5705" y="3771246"/>
            <a:ext cx="3687775" cy="604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B2A6F"/>
                </a:solidFill>
                <a:latin typeface="Pretendard Light"/>
              </a:rPr>
              <a:t>Client 0 validated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6361" y="3771246"/>
            <a:ext cx="3346246" cy="604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B2A6F"/>
                </a:solidFill>
                <a:latin typeface="Pretendard Light"/>
              </a:rPr>
              <a:t>인증/입장 연결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421777"/>
            <a:ext cx="11384280" cy="75111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" y="4522361"/>
            <a:ext cx="3801617" cy="604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B2A6F"/>
                </a:solidFill>
                <a:latin typeface="Pretendard Light"/>
              </a:rPr>
              <a:t>씬 전환되는가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5705" y="4522361"/>
            <a:ext cx="3687775" cy="604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B2A6F"/>
                </a:solidFill>
                <a:latin typeface="Pretendard Light"/>
              </a:rPr>
              <a:t>Client 언로드, BasicRoom 로드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76361" y="4522361"/>
            <a:ext cx="3346246" cy="604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B2A6F"/>
                </a:solidFill>
                <a:latin typeface="Pretendard Light"/>
              </a:rPr>
              <a:t>로비→룸 전환 성공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5172891"/>
            <a:ext cx="11384280" cy="751114"/>
          </a:xfrm>
          <a:prstGeom prst="rect">
            <a:avLst/>
          </a:prstGeom>
          <a:solidFill>
            <a:srgbClr val="F2F0E8"/>
          </a:solidFill>
          <a:ln w="12700">
            <a:solidFill>
              <a:srgbClr val="F2F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208" y="5273475"/>
            <a:ext cx="3801617" cy="604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B2A6F"/>
                </a:solidFill>
                <a:latin typeface="Pretendard Light"/>
              </a:rPr>
              <a:t>아바타가 스폰되는가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05705" y="5273475"/>
            <a:ext cx="3687775" cy="604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B2A6F"/>
                </a:solidFill>
                <a:latin typeface="Pretendard Light"/>
              </a:rPr>
              <a:t>Desktop(Clone) in BasicRoom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76361" y="5273475"/>
            <a:ext cx="3346246" cy="604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B2A6F"/>
                </a:solidFill>
                <a:latin typeface="Pretendard Light"/>
              </a:rPr>
              <a:t>XumNet/Motion 연결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5924005"/>
            <a:ext cx="11384280" cy="75111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1208" y="6024589"/>
            <a:ext cx="3801617" cy="604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B2A6F"/>
                </a:solidFill>
                <a:latin typeface="Pretendard Light"/>
              </a:rPr>
              <a:t>AI가 판정 가능한가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05705" y="6024589"/>
            <a:ext cx="3687775" cy="604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B2A6F"/>
                </a:solidFill>
                <a:latin typeface="Pretendard Light"/>
              </a:rPr>
              <a:t>C1~C4로 확인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76361" y="6024589"/>
            <a:ext cx="3346246" cy="604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B2A6F"/>
                </a:solidFill>
                <a:latin typeface="Pretendard Light"/>
              </a:rPr>
              <a:t>검증 가능한 절차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2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2A6F"/>
                </a:solidFill>
                <a:latin typeface="Pretendard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20624"/>
            <a:ext cx="9875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B2A6F"/>
                </a:solidFill>
                <a:latin typeface="Pretendard"/>
              </a:rPr>
              <a:t>결론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15568"/>
            <a:ext cx="11018520" cy="16459"/>
          </a:xfrm>
          <a:prstGeom prst="rect">
            <a:avLst/>
          </a:prstGeom>
          <a:solidFill>
            <a:srgbClr val="F2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828800"/>
            <a:ext cx="10469880" cy="2057400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121408"/>
            <a:ext cx="9921240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retendard"/>
              </a:rPr>
              <a:t>OXR-SDK는 AI-ready한 방식으로 제공될 수 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343400"/>
            <a:ext cx="1033272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700" b="0">
                <a:solidFill>
                  <a:srgbClr val="0B2A6F"/>
                </a:solidFill>
                <a:latin typeface="Pretendard Light"/>
              </a:rPr>
              <a:t>• OXR-SDK 계열 프레임워크는 조립 가능한 레이어를 갖고 있음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700" b="0">
                <a:solidFill>
                  <a:srgbClr val="0B2A6F"/>
                </a:solidFill>
                <a:latin typeface="Pretendard Light"/>
              </a:rPr>
              <a:t>• 작동 조건을 문서 · 프롬프트 · 검증 기준으로 외부화함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700" b="0">
                <a:solidFill>
                  <a:srgbClr val="0B2A6F"/>
                </a:solidFill>
                <a:latin typeface="Pretendard Light"/>
              </a:rPr>
              <a:t>• AI가 MCP로 룸 생성 · 빌드 · 서버 등록 · 아바타 스폰까지 검증함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700" b="0">
                <a:solidFill>
                  <a:srgbClr val="0B2A6F"/>
                </a:solidFill>
                <a:latin typeface="Pretendard Light"/>
              </a:rPr>
              <a:t>• XRCollabDemo는 OXR-SDK 검증의 대표 샘플이자 best sample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2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2A6F"/>
                </a:solidFill>
                <a:latin typeface="Pretendard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20624"/>
            <a:ext cx="9875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B2A6F"/>
                </a:solidFill>
                <a:latin typeface="Pretendard"/>
              </a:rPr>
              <a:t>경계와 해석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15568"/>
            <a:ext cx="11018520" cy="16459"/>
          </a:xfrm>
          <a:prstGeom prst="rect">
            <a:avLst/>
          </a:prstGeom>
          <a:solidFill>
            <a:srgbClr val="F2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5349240" cy="4800600"/>
          </a:xfrm>
          <a:prstGeom prst="rect">
            <a:avLst/>
          </a:prstGeom>
          <a:solidFill>
            <a:srgbClr val="F2F0E8"/>
          </a:solidFill>
          <a:ln w="12700">
            <a:solidFill>
              <a:srgbClr val="F2F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72200" y="1508760"/>
            <a:ext cx="5349240" cy="4800600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4800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2A6F"/>
                </a:solidFill>
                <a:latin typeface="Pretendard"/>
              </a:rPr>
              <a:t>이번 발표가 말하는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23160"/>
            <a:ext cx="4709160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700" b="0">
                <a:solidFill>
                  <a:srgbClr val="0B2A6F"/>
                </a:solidFill>
                <a:latin typeface="Pretendard Light"/>
              </a:rPr>
              <a:t>• 룸 생성 · 입장 · 아바타 스폰 범위 검증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700" b="0">
                <a:solidFill>
                  <a:srgbClr val="0B2A6F"/>
                </a:solidFill>
                <a:latin typeface="Pretendard Light"/>
              </a:rPr>
              <a:t>• 기존 프레임워크를 AX 관점에서 절차화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700" b="0">
                <a:solidFill>
                  <a:srgbClr val="0B2A6F"/>
                </a:solidFill>
                <a:latin typeface="Pretendard Light"/>
              </a:rPr>
              <a:t>• XRCollabDemo를 재생성 가능한 레퍼런스로 전환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783080"/>
            <a:ext cx="4800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retendard"/>
              </a:rPr>
              <a:t>이번 발표가 말하지 않는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423160"/>
            <a:ext cx="4709160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700" b="0">
                <a:solidFill>
                  <a:srgbClr val="FFFFFF"/>
                </a:solidFill>
                <a:latin typeface="Pretendard Light"/>
              </a:rPr>
              <a:t>• 기존 문서가 처음부터 완벽했다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700" b="0">
                <a:solidFill>
                  <a:srgbClr val="FFFFFF"/>
                </a:solidFill>
                <a:latin typeface="Pretendard Light"/>
              </a:rPr>
              <a:t>• 문장 하나로 임의의 룸을 완전 합성한다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700" b="0">
                <a:solidFill>
                  <a:srgbClr val="FFFFFF"/>
                </a:solidFill>
                <a:latin typeface="Pretendard Light"/>
              </a:rPr>
              <a:t>• 콘텐츠 기능 생성까지 이미 끝났다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2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2A6F"/>
                </a:solidFill>
                <a:latin typeface="Pretendard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20624"/>
            <a:ext cx="9875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B2A6F"/>
                </a:solidFill>
                <a:latin typeface="Pretendard"/>
              </a:rPr>
              <a:t>향후 계획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15568"/>
            <a:ext cx="11018520" cy="16459"/>
          </a:xfrm>
          <a:prstGeom prst="rect">
            <a:avLst/>
          </a:prstGeom>
          <a:solidFill>
            <a:srgbClr val="F2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645795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517904"/>
            <a:ext cx="1359712" cy="499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Pretendard"/>
              </a:rPr>
              <a:t>Phase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6680" y="1517904"/>
            <a:ext cx="7309713" cy="499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Pretendard"/>
              </a:rPr>
              <a:t>내용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39274" y="1517904"/>
            <a:ext cx="1800453" cy="499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Pretendard"/>
              </a:rPr>
              <a:t>상태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063115"/>
            <a:ext cx="11018520" cy="645795"/>
          </a:xfrm>
          <a:prstGeom prst="rect">
            <a:avLst/>
          </a:prstGeom>
          <a:solidFill>
            <a:srgbClr val="F2F0E8"/>
          </a:solidFill>
          <a:ln w="12700">
            <a:solidFill>
              <a:srgbClr val="F2F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163699"/>
            <a:ext cx="1359712" cy="499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B2A6F"/>
                </a:solidFill>
                <a:latin typeface="Pretendard Light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6680" y="2163699"/>
            <a:ext cx="7309713" cy="499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B2A6F"/>
                </a:solidFill>
                <a:latin typeface="Pretendard Light"/>
              </a:rPr>
              <a:t>룸 베이스 검증: 네트워크, 아바타, UI 전환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39274" y="2163699"/>
            <a:ext cx="1800453" cy="499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B2A6F"/>
                </a:solidFill>
                <a:latin typeface="Pretendard Light"/>
              </a:rPr>
              <a:t>완료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708910"/>
            <a:ext cx="11018520" cy="6457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2809494"/>
            <a:ext cx="1359712" cy="499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B2A6F"/>
                </a:solidFill>
                <a:latin typeface="Pretendard Light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6680" y="2809494"/>
            <a:ext cx="7309713" cy="499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B2A6F"/>
                </a:solidFill>
                <a:latin typeface="Pretendard Light"/>
              </a:rPr>
              <a:t>룸 조립 계약: C1~C4, 스포너 규칙, 씬 토폴로지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39274" y="2809494"/>
            <a:ext cx="1800453" cy="499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B2A6F"/>
                </a:solidFill>
                <a:latin typeface="Pretendard Light"/>
              </a:rPr>
              <a:t>완료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354705"/>
            <a:ext cx="11018520" cy="645795"/>
          </a:xfrm>
          <a:prstGeom prst="rect">
            <a:avLst/>
          </a:prstGeom>
          <a:solidFill>
            <a:srgbClr val="F2F0E8"/>
          </a:solidFill>
          <a:ln w="12700">
            <a:solidFill>
              <a:srgbClr val="F2F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3455289"/>
            <a:ext cx="1359712" cy="499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B2A6F"/>
                </a:solidFill>
                <a:latin typeface="Pretendard Light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6680" y="3455289"/>
            <a:ext cx="7309713" cy="499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B2A6F"/>
                </a:solidFill>
                <a:latin typeface="Pretendard Light"/>
              </a:rPr>
              <a:t>AI + MCP 기반 룸 생성 · 빌드 · 검증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9274" y="3455289"/>
            <a:ext cx="1800453" cy="499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B2A6F"/>
                </a:solidFill>
                <a:latin typeface="Pretendard Light"/>
              </a:rPr>
              <a:t>완료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4000500"/>
            <a:ext cx="11018520" cy="6457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4101084"/>
            <a:ext cx="1359712" cy="499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B2A6F"/>
                </a:solidFill>
                <a:latin typeface="Pretendard Light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6680" y="4101084"/>
            <a:ext cx="7309713" cy="499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B2A6F"/>
                </a:solidFill>
                <a:latin typeface="Pretendard Light"/>
              </a:rPr>
              <a:t>콘텐츠 확장 파일럿: IToggleableContent, Ruler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39274" y="4101084"/>
            <a:ext cx="1800453" cy="499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B2A6F"/>
                </a:solidFill>
                <a:latin typeface="Pretendard Light"/>
              </a:rPr>
              <a:t>완료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4646295"/>
            <a:ext cx="11018520" cy="645795"/>
          </a:xfrm>
          <a:prstGeom prst="rect">
            <a:avLst/>
          </a:prstGeom>
          <a:solidFill>
            <a:srgbClr val="F2F0E8"/>
          </a:solidFill>
          <a:ln w="12700">
            <a:solidFill>
              <a:srgbClr val="F2F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" y="4746879"/>
            <a:ext cx="1359712" cy="499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B2A6F"/>
                </a:solidFill>
                <a:latin typeface="Pretendard Light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6680" y="4746879"/>
            <a:ext cx="7309713" cy="499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B2A6F"/>
                </a:solidFill>
                <a:latin typeface="Pretendard Light"/>
              </a:rPr>
              <a:t>런치패드 UI: 레지스트리 → 아이콘 그리드 → 토글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39274" y="4746879"/>
            <a:ext cx="1800453" cy="499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B2A6F"/>
                </a:solidFill>
                <a:latin typeface="Pretendard Light"/>
              </a:rPr>
              <a:t>예정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5292090"/>
            <a:ext cx="11018520" cy="6457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088" y="5392674"/>
            <a:ext cx="1359712" cy="499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B2A6F"/>
                </a:solidFill>
                <a:latin typeface="Pretendard Light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6680" y="5392674"/>
            <a:ext cx="7309713" cy="499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B2A6F"/>
                </a:solidFill>
                <a:latin typeface="Pretendard Light"/>
              </a:rPr>
              <a:t>/RoomContent-&lt;feature&gt; 스킬화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9274" y="5392674"/>
            <a:ext cx="1800453" cy="499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B2A6F"/>
                </a:solidFill>
                <a:latin typeface="Pretendard Light"/>
              </a:rPr>
              <a:t>예정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5937885"/>
            <a:ext cx="11018520" cy="645795"/>
          </a:xfrm>
          <a:prstGeom prst="rect">
            <a:avLst/>
          </a:prstGeom>
          <a:solidFill>
            <a:srgbClr val="F2F0E8"/>
          </a:solidFill>
          <a:ln w="12700">
            <a:solidFill>
              <a:srgbClr val="F2F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" y="6038469"/>
            <a:ext cx="1359712" cy="499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B2A6F"/>
                </a:solidFill>
                <a:latin typeface="Pretendard Light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6680" y="6038469"/>
            <a:ext cx="7309713" cy="499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B2A6F"/>
                </a:solidFill>
                <a:latin typeface="Pretendard Light"/>
              </a:rPr>
              <a:t>/promptscene + 자동 검증 하네스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39274" y="6038469"/>
            <a:ext cx="1800453" cy="499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B2A6F"/>
                </a:solidFill>
                <a:latin typeface="Pretendard Light"/>
              </a:rPr>
              <a:t>예정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6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143000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Pretendard"/>
              </a:rPr>
              <a:t>AI-ready 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83080"/>
            <a:ext cx="10241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retendard"/>
              </a:rPr>
              <a:t>"XRCollabDemo 샘플은 작동한다"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907792"/>
            <a:ext cx="10332720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Pretendard"/>
              </a:rPr>
              <a:t>AI-ready 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6908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retendard"/>
              </a:rPr>
              <a:t>"OXR-SDK 위에서 AI가 협업 룸을 재생성하고 검증할 수 있다"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897880"/>
            <a:ext cx="10241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Pretendard Light"/>
              </a:rPr>
              <a:t>XRCollabDemo는 OXR-SDK의 재생성 가능한 best sample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