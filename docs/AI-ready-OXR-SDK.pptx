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1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25E69-0998-4B85-9193-322797E4D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F43B58-EE86-4CFB-A6B3-F2C39D507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E02E20-C9DF-4B34-AE0C-CA8E4E3DF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8F672-BBCF-465F-9EA7-129BF9168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0745D-23A6-455F-8993-DCB477D7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79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3F8C-5F3A-473C-9335-72B48B67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BF137F-F285-4956-B36F-43D13D845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C85CE-0BE7-4614-A07D-9015F9C0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712278-16B4-41A4-8075-039848FB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157E40-9BB6-4FC6-8087-EEAA2CC5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19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A6F15-2FA1-436D-A655-0D8FB220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8541FA-2B00-4608-BCC2-15387CF2E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42850-9AF6-4B85-9169-FE66D6C7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3CA704-56CD-4259-8653-15134BCE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0D303C-BB3A-4D37-AB5D-74F1BC67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43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DDF6B0-BDE7-4B45-A3FC-B449E863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BF4D10-3FA1-48D7-8FEE-FC8AD2861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F32748-8E47-4486-BD17-88569A029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56535E-FFB4-4EE0-9921-3B6565FD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D1BE5E-4FD2-4645-8C02-D45D2058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AF04F3-AD14-4166-B519-AFA5147F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064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BC325-4517-4A48-AC4C-3F8D20D1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0055F1-D29F-4B6D-8CE6-7A72B6192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3E88F3-E7BC-4264-A8D1-B36F526C8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68C9A9-6696-4278-B2B4-12FD0F753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DF4906-CF10-4FAC-8CE6-ABEE0CE25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26655E-F0A4-4270-9D90-E07E4601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758AF1-26AE-4319-B088-C06A1244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B91AA6-69EE-4FD9-8740-F1134F68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9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B3914-85A1-4806-ADF6-13AFC2B0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EF80A-CA5B-4955-A8D2-7F9A60AE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C44C6E-AF42-4437-B84C-87B07485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A0987F-DEDF-481B-93FA-96ECEB59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13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EA66B8-59B6-4C11-9571-D2180C5E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AC2D18-9255-4BA6-B9E8-61BEC983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7BDCDE-3A3B-412D-BB18-249A7EC7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69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3D431-CFCD-427A-87DB-FD6C155C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C784E6-87AD-4D24-A50B-684D31452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1A1563-CE86-4535-A8EE-570DCE466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06AFBC-2620-4FDA-BA0D-291602E8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BAB059-5AC5-4CDC-AC2D-A3924E88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368C19-12CF-42CE-863A-C6BCA6AD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7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643DA-C531-4F47-AB67-3B729F87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D8A1D0-3948-44F7-98CB-E97164C25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7372A0-50D2-48AF-AD09-111D69E74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1111C1-2887-4F19-8EEB-39E36F31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F8C954-F0E5-4AFD-985C-B7703294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9D182-9D0B-42A4-A2D9-FD39D476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02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5FA87-31AA-47D8-9400-170E725F7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815EE3-642C-4E98-9A7D-22A037EE2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6C5EE2-5A77-4FFA-9CD1-29EAE2A9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47880A-651A-4AC9-BCC0-5AAF2556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BE7301-DE31-4EE3-9E51-A8B3FAF6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18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E5A19A-AA0C-42BF-8D67-6D74F3F80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84A732-EBAF-47C8-8096-D5FB0A831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0EB49C-8B88-4984-9838-34DCD288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CBB6FB-F3FF-4F34-B8B0-F5C2663C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6A1F78-7586-4545-9DCD-3CB6B7C7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36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19975A-2FBD-4185-BDFA-FD37080BA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D25A14-318B-435C-9C8B-2826A2F94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455FFF-4B06-4748-AC03-8FDDFE9B7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78F8D-773C-453A-8BB0-115D09515EB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FF7074-9861-4484-9DFF-21C620E8A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22DE4-5D71-4B2A-8F8E-7EDAA5367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CAB61-8517-4D86-A147-37A90B0E8C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96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CA341C7C-86E5-43AE-A400-3A459B90CE88}"/>
              </a:ext>
            </a:extLst>
          </p:cNvPr>
          <p:cNvSpPr/>
          <p:nvPr/>
        </p:nvSpPr>
        <p:spPr>
          <a:xfrm>
            <a:off x="5588000" y="1498600"/>
            <a:ext cx="1016000" cy="1016000"/>
          </a:xfrm>
          <a:prstGeom prst="ellipse">
            <a:avLst/>
          </a:prstGeom>
          <a:noFill/>
          <a:ln w="9525" cap="flat" cmpd="sng" algn="ctr">
            <a:solidFill>
              <a:srgbClr val="6F8FC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35128A0-1670-4214-B967-6BA6C6CFE393}"/>
              </a:ext>
            </a:extLst>
          </p:cNvPr>
          <p:cNvSpPr/>
          <p:nvPr/>
        </p:nvSpPr>
        <p:spPr>
          <a:xfrm>
            <a:off x="5143500" y="1054100"/>
            <a:ext cx="1905000" cy="1905000"/>
          </a:xfrm>
          <a:prstGeom prst="ellipse">
            <a:avLst/>
          </a:prstGeom>
          <a:noFill/>
          <a:ln w="5715" cap="flat" cmpd="sng" algn="ctr">
            <a:solidFill>
              <a:srgbClr val="6F8FC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ED3C180-8869-415C-BE2B-15133310930F}"/>
              </a:ext>
            </a:extLst>
          </p:cNvPr>
          <p:cNvSpPr/>
          <p:nvPr/>
        </p:nvSpPr>
        <p:spPr>
          <a:xfrm>
            <a:off x="4699000" y="609600"/>
            <a:ext cx="2794000" cy="2794000"/>
          </a:xfrm>
          <a:prstGeom prst="ellipse">
            <a:avLst/>
          </a:prstGeom>
          <a:noFill/>
          <a:ln w="3175" cap="flat" cmpd="sng" algn="ctr">
            <a:solidFill>
              <a:srgbClr val="6F8FC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0AE2323-E2E3-41AF-B3B6-79D0031ECB71}"/>
              </a:ext>
            </a:extLst>
          </p:cNvPr>
          <p:cNvCxnSpPr/>
          <p:nvPr/>
        </p:nvCxnSpPr>
        <p:spPr>
          <a:xfrm>
            <a:off x="5334000" y="3225800"/>
            <a:ext cx="1524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D567298-1F45-4C61-8672-8F0ECC1BB748}"/>
              </a:ext>
            </a:extLst>
          </p:cNvPr>
          <p:cNvSpPr txBox="1"/>
          <p:nvPr/>
        </p:nvSpPr>
        <p:spPr>
          <a:xfrm>
            <a:off x="2540000" y="3327400"/>
            <a:ext cx="711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1100">
                <a:solidFill>
                  <a:srgbClr val="6F8FCC"/>
                </a:solidFill>
                <a:latin typeface="Pretendard Light" panose="02000403000000020004" pitchFamily="50" charset="-127"/>
              </a:rPr>
              <a:t>Go to the basic</a:t>
            </a:r>
            <a:endParaRPr lang="ko-KR" altLang="en-US" sz="11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8F51A-BA0F-4738-A46E-237D061F6A37}"/>
              </a:ext>
            </a:extLst>
          </p:cNvPr>
          <p:cNvSpPr txBox="1"/>
          <p:nvPr/>
        </p:nvSpPr>
        <p:spPr>
          <a:xfrm>
            <a:off x="1016000" y="3746500"/>
            <a:ext cx="10160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4600" b="1">
                <a:solidFill>
                  <a:srgbClr val="FFFFFF"/>
                </a:solidFill>
                <a:latin typeface="Pretendard" panose="02000803000000020004" pitchFamily="50" charset="-127"/>
              </a:rPr>
              <a:t>Is OXR SDK AI-ready?</a:t>
            </a:r>
            <a:endParaRPr lang="ko-KR" altLang="en-US" sz="46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7CECFD-625C-4DF4-8DC5-BB5F97C3A931}"/>
              </a:ext>
            </a:extLst>
          </p:cNvPr>
          <p:cNvSpPr txBox="1"/>
          <p:nvPr/>
        </p:nvSpPr>
        <p:spPr>
          <a:xfrm>
            <a:off x="1270000" y="4749800"/>
            <a:ext cx="965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1500">
                <a:solidFill>
                  <a:srgbClr val="6F8FCC"/>
                </a:solidFill>
                <a:latin typeface="Pretendard Light" panose="02000403000000020004" pitchFamily="50" charset="-127"/>
              </a:rPr>
              <a:t>From Static Sample Project to Prompt-based XR Framework</a:t>
            </a:r>
            <a:endParaRPr lang="ko-KR" altLang="en-US" sz="15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E420BE9-7E22-4FC6-A4CA-A4049EE01403}"/>
              </a:ext>
            </a:extLst>
          </p:cNvPr>
          <p:cNvCxnSpPr/>
          <p:nvPr/>
        </p:nvCxnSpPr>
        <p:spPr>
          <a:xfrm>
            <a:off x="2540000" y="5410200"/>
            <a:ext cx="7112000" cy="0"/>
          </a:xfrm>
          <a:prstGeom prst="line">
            <a:avLst/>
          </a:prstGeom>
          <a:ln w="381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073C3A-D0DB-4F41-AD43-EA625F2DAF07}"/>
              </a:ext>
            </a:extLst>
          </p:cNvPr>
          <p:cNvSpPr txBox="1"/>
          <p:nvPr/>
        </p:nvSpPr>
        <p:spPr>
          <a:xfrm>
            <a:off x="1270000" y="5486400"/>
            <a:ext cx="965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1100">
                <a:solidFill>
                  <a:srgbClr val="A8BCE8"/>
                </a:solidFill>
                <a:latin typeface="Pretendard Light" panose="02000403000000020004" pitchFamily="50" charset="-127"/>
              </a:rPr>
              <a:t>2026.06.12  |  XRCollabDemo (Unity 6000.3.11f1)</a:t>
            </a:r>
            <a:endParaRPr lang="ko-KR" altLang="en-US" sz="1100">
              <a:solidFill>
                <a:srgbClr val="A8BCE8"/>
              </a:solidFill>
              <a:latin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308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B3C3997-25FD-4298-B2DA-362BF762C6B9}"/>
              </a:ext>
            </a:extLst>
          </p:cNvPr>
          <p:cNvCxnSpPr/>
          <p:nvPr/>
        </p:nvCxnSpPr>
        <p:spPr>
          <a:xfrm>
            <a:off x="508000" y="584200"/>
            <a:ext cx="1117600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623914A-69E0-454E-A7F7-4EF2AC816EA7}"/>
              </a:ext>
            </a:extLst>
          </p:cNvPr>
          <p:cNvSpPr txBox="1"/>
          <p:nvPr/>
        </p:nvSpPr>
        <p:spPr>
          <a:xfrm>
            <a:off x="635000" y="711200"/>
            <a:ext cx="5080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&gt;&gt; Table of contents</a:t>
            </a:r>
            <a:endParaRPr lang="ko-KR" altLang="en-US" sz="13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AA787-8A7D-4EDE-AD37-C2C5053C4F91}"/>
              </a:ext>
            </a:extLst>
          </p:cNvPr>
          <p:cNvSpPr txBox="1"/>
          <p:nvPr/>
        </p:nvSpPr>
        <p:spPr>
          <a:xfrm>
            <a:off x="1397000" y="11684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1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7296D-DEB3-40C7-9B6F-1C29F59F04E3}"/>
              </a:ext>
            </a:extLst>
          </p:cNvPr>
          <p:cNvSpPr txBox="1"/>
          <p:nvPr/>
        </p:nvSpPr>
        <p:spPr>
          <a:xfrm>
            <a:off x="2349500" y="11938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Why This Question Matters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07FB0-A384-44DD-B123-0FD90292A63E}"/>
              </a:ext>
            </a:extLst>
          </p:cNvPr>
          <p:cNvSpPr txBox="1"/>
          <p:nvPr/>
        </p:nvSpPr>
        <p:spPr>
          <a:xfrm>
            <a:off x="1397000" y="16510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2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4C123-9E20-4734-AB56-5CC048307445}"/>
              </a:ext>
            </a:extLst>
          </p:cNvPr>
          <p:cNvSpPr txBox="1"/>
          <p:nvPr/>
        </p:nvSpPr>
        <p:spPr>
          <a:xfrm>
            <a:off x="2349500" y="16764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The Problem: Static Sample Projects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C4403-F11D-411E-922E-F7C5152108D4}"/>
              </a:ext>
            </a:extLst>
          </p:cNvPr>
          <p:cNvSpPr txBox="1"/>
          <p:nvPr/>
        </p:nvSpPr>
        <p:spPr>
          <a:xfrm>
            <a:off x="1397000" y="21336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3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9F757-655C-4D16-8BC8-F6418CF12274}"/>
              </a:ext>
            </a:extLst>
          </p:cNvPr>
          <p:cNvSpPr txBox="1"/>
          <p:nvPr/>
        </p:nvSpPr>
        <p:spPr>
          <a:xfrm>
            <a:off x="2349500" y="21590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What Does 'AI-ready' Mean?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CE298-5E35-4860-8D90-458589363ADA}"/>
              </a:ext>
            </a:extLst>
          </p:cNvPr>
          <p:cNvSpPr txBox="1"/>
          <p:nvPr/>
        </p:nvSpPr>
        <p:spPr>
          <a:xfrm>
            <a:off x="1397000" y="26162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4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B555E-2946-4329-BE97-DF2830DD0D34}"/>
              </a:ext>
            </a:extLst>
          </p:cNvPr>
          <p:cNvSpPr txBox="1"/>
          <p:nvPr/>
        </p:nvSpPr>
        <p:spPr>
          <a:xfrm>
            <a:off x="2349500" y="26416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Experiment Design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70C1CA-9A58-40F3-9955-ED305BE3C38A}"/>
              </a:ext>
            </a:extLst>
          </p:cNvPr>
          <p:cNvSpPr txBox="1"/>
          <p:nvPr/>
        </p:nvSpPr>
        <p:spPr>
          <a:xfrm>
            <a:off x="1397000" y="30988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5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2A3A3-2573-4DF9-95E4-E1316CD3A095}"/>
              </a:ext>
            </a:extLst>
          </p:cNvPr>
          <p:cNvSpPr txBox="1"/>
          <p:nvPr/>
        </p:nvSpPr>
        <p:spPr>
          <a:xfrm>
            <a:off x="2349500" y="31242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Key Evidence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708437-4EC0-491A-B62B-4876F8CE4496}"/>
              </a:ext>
            </a:extLst>
          </p:cNvPr>
          <p:cNvSpPr txBox="1"/>
          <p:nvPr/>
        </p:nvSpPr>
        <p:spPr>
          <a:xfrm>
            <a:off x="1397000" y="35814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6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2C5D91-F0C9-4DFD-B705-9D67B858D37A}"/>
              </a:ext>
            </a:extLst>
          </p:cNvPr>
          <p:cNvSpPr txBox="1"/>
          <p:nvPr/>
        </p:nvSpPr>
        <p:spPr>
          <a:xfrm>
            <a:off x="2349500" y="36068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C1~C4 Invariants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1B1A1D-865E-4351-A3DB-5C4E741D87BF}"/>
              </a:ext>
            </a:extLst>
          </p:cNvPr>
          <p:cNvSpPr txBox="1"/>
          <p:nvPr/>
        </p:nvSpPr>
        <p:spPr>
          <a:xfrm>
            <a:off x="1397000" y="40640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7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200ED3-7A45-45B1-A955-05F2CC97B12F}"/>
              </a:ext>
            </a:extLst>
          </p:cNvPr>
          <p:cNvSpPr txBox="1"/>
          <p:nvPr/>
        </p:nvSpPr>
        <p:spPr>
          <a:xfrm>
            <a:off x="2349500" y="40894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Critical Finding: Spawner Must Be a Prefab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AA3ED3-D0EF-4E5A-ADE4-98BB2EA6343C}"/>
              </a:ext>
            </a:extLst>
          </p:cNvPr>
          <p:cNvSpPr txBox="1"/>
          <p:nvPr/>
        </p:nvSpPr>
        <p:spPr>
          <a:xfrm>
            <a:off x="1397000" y="45466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8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24876E-7713-4DA6-9ECB-9865DEE6B027}"/>
              </a:ext>
            </a:extLst>
          </p:cNvPr>
          <p:cNvSpPr txBox="1"/>
          <p:nvPr/>
        </p:nvSpPr>
        <p:spPr>
          <a:xfrm>
            <a:off x="2349500" y="45720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Content Modularity: RoomCore + Features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4232FD-F790-4DBF-8D5D-C18EEA51974D}"/>
              </a:ext>
            </a:extLst>
          </p:cNvPr>
          <p:cNvSpPr txBox="1"/>
          <p:nvPr/>
        </p:nvSpPr>
        <p:spPr>
          <a:xfrm>
            <a:off x="1397000" y="50292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9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F60699-06FD-4F78-ABCB-C19B3455E3BE}"/>
              </a:ext>
            </a:extLst>
          </p:cNvPr>
          <p:cNvSpPr txBox="1"/>
          <p:nvPr/>
        </p:nvSpPr>
        <p:spPr>
          <a:xfrm>
            <a:off x="2349500" y="50546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Before vs. After: Redefining XRCollabDemo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7D6006-26B8-495C-8939-CE4A5E4CE758}"/>
              </a:ext>
            </a:extLst>
          </p:cNvPr>
          <p:cNvSpPr txBox="1"/>
          <p:nvPr/>
        </p:nvSpPr>
        <p:spPr>
          <a:xfrm>
            <a:off x="1397000" y="55118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10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EA51D0-AA10-4C80-822A-6E313F05DB5B}"/>
              </a:ext>
            </a:extLst>
          </p:cNvPr>
          <p:cNvSpPr txBox="1"/>
          <p:nvPr/>
        </p:nvSpPr>
        <p:spPr>
          <a:xfrm>
            <a:off x="2349500" y="55372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Roadmap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7D05F8-FC03-4498-B06E-723E1BE13E35}"/>
              </a:ext>
            </a:extLst>
          </p:cNvPr>
          <p:cNvSpPr txBox="1"/>
          <p:nvPr/>
        </p:nvSpPr>
        <p:spPr>
          <a:xfrm>
            <a:off x="1397000" y="5994400"/>
            <a:ext cx="76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900" b="1">
                <a:solidFill>
                  <a:srgbClr val="FFFFFF"/>
                </a:solidFill>
                <a:latin typeface="Pretendard" panose="02000803000000020004" pitchFamily="50" charset="-127"/>
              </a:rPr>
              <a:t>11</a:t>
            </a:r>
            <a:endParaRPr lang="ko-KR" altLang="en-US" sz="19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31FB52-8EE8-411B-8A59-A033F5F4F848}"/>
              </a:ext>
            </a:extLst>
          </p:cNvPr>
          <p:cNvSpPr txBox="1"/>
          <p:nvPr/>
        </p:nvSpPr>
        <p:spPr>
          <a:xfrm>
            <a:off x="2349500" y="6019800"/>
            <a:ext cx="8636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500">
                <a:solidFill>
                  <a:srgbClr val="EAEAEA"/>
                </a:solidFill>
                <a:latin typeface="Pretendard Light" panose="02000403000000020004" pitchFamily="50" charset="-127"/>
              </a:rPr>
              <a:t>Conclusion: Foundation Is Proven</a:t>
            </a:r>
            <a:endParaRPr lang="ko-KR" altLang="en-US" sz="1500">
              <a:solidFill>
                <a:srgbClr val="EAEAEA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1E4EC8F-1586-4CA9-8204-51C03831BFC4}"/>
              </a:ext>
            </a:extLst>
          </p:cNvPr>
          <p:cNvCxnSpPr/>
          <p:nvPr/>
        </p:nvCxnSpPr>
        <p:spPr>
          <a:xfrm>
            <a:off x="508000" y="65024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05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B957DE3-0EC3-41FE-BCC9-124832852BDC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F56CAE-A731-4049-A318-970BF02659B3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Why This Question Matters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A71749C-EE8F-4EDC-A903-46ADCD5586C1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D642965-6470-4E9D-B680-1504623A0700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1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FBC0E76-946F-4D23-8B5B-2B6276428FCF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CFF6E3-0B95-4012-8ECA-783397857D4C}"/>
              </a:ext>
            </a:extLst>
          </p:cNvPr>
          <p:cNvSpPr txBox="1"/>
          <p:nvPr/>
        </p:nvSpPr>
        <p:spPr>
          <a:xfrm>
            <a:off x="698500" y="1346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AI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에이전트는 문서를 읽고 실행 가능한 결과물을 직접 만들어야 한다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.</a:t>
            </a:r>
            <a:endParaRPr lang="ko-KR" altLang="en-US" sz="13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BB874-1C46-4AC8-AAE0-C6842FC2D749}"/>
              </a:ext>
            </a:extLst>
          </p:cNvPr>
          <p:cNvSpPr txBox="1"/>
          <p:nvPr/>
        </p:nvSpPr>
        <p:spPr>
          <a:xfrm>
            <a:off x="698500" y="1854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AI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에이전트는 문서를 읽고 실행 가능한 결과물을 직접 만들어야 한다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단순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API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레퍼런스나 샘플 코드만으로는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AI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가 실제 프로젝트를 조립할 수 없다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XR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프레임워크에서도 같은 전환이 필요하다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211987E-047C-4072-8287-953F333A00D0}"/>
              </a:ext>
            </a:extLst>
          </p:cNvPr>
          <p:cNvCxnSpPr/>
          <p:nvPr/>
        </p:nvCxnSpPr>
        <p:spPr>
          <a:xfrm>
            <a:off x="698500" y="4762500"/>
            <a:ext cx="10795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DE17E8-E1EF-4CAF-A384-48AB3A345E15}"/>
              </a:ext>
            </a:extLst>
          </p:cNvPr>
          <p:cNvSpPr txBox="1"/>
          <p:nvPr/>
        </p:nvSpPr>
        <p:spPr>
          <a:xfrm>
            <a:off x="698500" y="48641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2000" b="1">
                <a:solidFill>
                  <a:srgbClr val="A8BCE8"/>
                </a:solidFill>
                <a:latin typeface="Pretendard" panose="02000803000000020004" pitchFamily="50" charset="-127"/>
              </a:rPr>
              <a:t>Can AI assemble a working XR room from our framework — without a human in the loop?</a:t>
            </a:r>
            <a:endParaRPr lang="ko-KR" altLang="en-US" sz="2000" b="1">
              <a:solidFill>
                <a:srgbClr val="A8BCE8"/>
              </a:solidFill>
              <a:latin typeface="Pretendard" panose="020008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02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5AE7123-90E7-4BBD-B344-A6024E298659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79E387-24E4-4D8F-BC32-6036F33F8DDA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The Problem: Static Sample Projects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51E9160-4691-44AF-99A0-16B14BCC3937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9B6AE49-1D69-4858-9ABF-3B07FEEC9D56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2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348A5EE-829C-4716-A52B-81F89C7D0B55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15E643-01A0-4854-920B-4F2359A8F698}"/>
              </a:ext>
            </a:extLst>
          </p:cNvPr>
          <p:cNvSpPr txBox="1"/>
          <p:nvPr/>
        </p:nvSpPr>
        <p:spPr>
          <a:xfrm>
            <a:off x="698500" y="1346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기존 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XR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샘플 프로젝트는 사람이 직접 열고 파악하도록 설계되어 있다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.</a:t>
            </a:r>
            <a:endParaRPr lang="ko-KR" altLang="en-US" sz="13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7A8FA-8FF0-473A-9EAD-2AFBE1009432}"/>
              </a:ext>
            </a:extLst>
          </p:cNvPr>
          <p:cNvSpPr txBox="1"/>
          <p:nvPr/>
        </p:nvSpPr>
        <p:spPr>
          <a:xfrm>
            <a:off x="698500" y="1854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사용자가 직접 다운로드하고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Unity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에서 열어야 한다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룸 생성 규칙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,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네트워크 설정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,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씬 전환 조건이 코드와 인스펙터에 암묵적으로 숨어 있다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패키지 구성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,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프리팹 종속성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,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스포너 설정 방식이 문서화되지 않은 관행에 의존한다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51DF81E-D38E-4A2E-98D4-FD2B17AACE3A}"/>
              </a:ext>
            </a:extLst>
          </p:cNvPr>
          <p:cNvCxnSpPr/>
          <p:nvPr/>
        </p:nvCxnSpPr>
        <p:spPr>
          <a:xfrm>
            <a:off x="698500" y="5016500"/>
            <a:ext cx="10795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42827D-707C-4097-9EFD-8F12071D3FED}"/>
              </a:ext>
            </a:extLst>
          </p:cNvPr>
          <p:cNvSpPr txBox="1"/>
          <p:nvPr/>
        </p:nvSpPr>
        <p:spPr>
          <a:xfrm>
            <a:off x="698500" y="51181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1900" b="1">
                <a:solidFill>
                  <a:srgbClr val="A8BCE8"/>
                </a:solidFill>
                <a:latin typeface="Pretendard" panose="02000803000000020004" pitchFamily="50" charset="-127"/>
              </a:rPr>
              <a:t>Static samples are useful for humans, but not enough for AI agents.</a:t>
            </a:r>
            <a:endParaRPr lang="ko-KR" altLang="en-US" sz="1900" b="1">
              <a:solidFill>
                <a:srgbClr val="A8BCE8"/>
              </a:solidFill>
              <a:latin typeface="Pretendard" panose="020008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655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EF379BB-E1A7-474B-960A-09EAF4D7BF6A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13F2AE5-BF07-49CC-BDD2-010AA3F75DF1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What Does 'AI-ready' Mean?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3780782-D410-4238-83ED-E5CA6C899621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B8D5EEF-830F-4EEE-A1CB-090668A3DF82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3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2209B7E-2E0A-46E8-B697-39245147F398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7D74C19-39FE-438D-A6FE-C4B2E98F4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965154"/>
              </p:ext>
            </p:extLst>
          </p:nvPr>
        </p:nvGraphicFramePr>
        <p:xfrm>
          <a:off x="635000" y="1422400"/>
          <a:ext cx="10922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2636431041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192093718"/>
                    </a:ext>
                  </a:extLst>
                </a:gridCol>
              </a:tblGrid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Criterion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Pretendard" panose="02000803000000020004" pitchFamily="50" charset="-127"/>
                      </a:endParaRP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Meaning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Pretendard" panose="02000803000000020004" pitchFamily="50" charset="-127"/>
                      </a:endParaRP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954263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Document-based reproducibility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문서만 보고 작동 단위를 재현할 수 있음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194460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Explicit contracts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코어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기능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씬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프리팹 규칙이 명시됨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339268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Runtime validation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실제 실행으로 작동 여부를 검증 가능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57839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Modularity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기능을 추가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제거해도 코어가 깨지지 않음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155237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Prompt-based assembly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자연어 요청을 구조적 작업으로 변환 가능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5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59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A04D8D1-7178-4BB0-B0CD-3211FECF11FA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383871-A831-45F3-9740-50618C8D6D89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Experiment Design: XRCollabDemo as Proof Case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88F3523-D435-4A62-8128-9B19F98982AE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ACBF08-B7AE-49CA-97D2-6BBB381CD04F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4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4566357-C68A-4222-8D74-B32B98D66FA9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02AA726-162F-4EE5-BA89-1C5F09D8699E}"/>
              </a:ext>
            </a:extLst>
          </p:cNvPr>
          <p:cNvSpPr txBox="1"/>
          <p:nvPr/>
        </p:nvSpPr>
        <p:spPr>
          <a:xfrm>
            <a:off x="698500" y="1346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XRCollabDemo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를 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AI-ready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가능성을 검증하는 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proof case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로 재정의했다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.</a:t>
            </a:r>
            <a:endParaRPr lang="ko-KR" altLang="en-US" sz="13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EB280-88A4-4E67-B549-7F703DCB4EFB}"/>
              </a:ext>
            </a:extLst>
          </p:cNvPr>
          <p:cNvSpPr txBox="1"/>
          <p:nvPr/>
        </p:nvSpPr>
        <p:spPr>
          <a:xfrm>
            <a:off x="698500" y="18796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목표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문서와 패키지만으로 작동 룸을 재구성할 수 있는가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?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대상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XRCollabDemo (Unity 6000.3.11f1, MST + FishNet + XumNet)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방법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build-working-room.md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한 파일만 보고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BasicRoom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조립 → 빌드 → 실행 → 검증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판단 기준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서버 등록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,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클라이언트 검증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,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아바타 스폰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, UI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전환까지 전 구간 실측</a:t>
            </a:r>
          </a:p>
        </p:txBody>
      </p:sp>
    </p:spTree>
    <p:extLst>
      <p:ext uri="{BB962C8B-B14F-4D97-AF65-F5344CB8AC3E}">
        <p14:creationId xmlns:p14="http://schemas.microsoft.com/office/powerpoint/2010/main" val="2972694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71DA2A2-807D-4BFD-A407-90F15CE76678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5067F37-C233-413F-AAFF-A4C29ABE82CC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Key Evidence: Document-Only Room Reconstruction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67BEDFB-DB3E-4A55-845B-FD3C93934299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7E54A1A-1411-43F3-A9D5-7BC95EA514A4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5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43B68D3-282A-40C8-A715-FD2D9B50E850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BC495F-ED18-487F-9538-6BFE1D4BD659}"/>
              </a:ext>
            </a:extLst>
          </p:cNvPr>
          <p:cNvSpPr txBox="1"/>
          <p:nvPr/>
        </p:nvSpPr>
        <p:spPr>
          <a:xfrm>
            <a:off x="698500" y="1346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build-working-room.md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하나만으로 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BasicRoom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조립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,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전 구간 작동을 실측 확인했다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.</a:t>
            </a:r>
            <a:endParaRPr lang="ko-KR" altLang="en-US" sz="13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1606D-4B37-4212-8677-38D1E4D82E84}"/>
              </a:ext>
            </a:extLst>
          </p:cNvPr>
          <p:cNvSpPr txBox="1"/>
          <p:nvPr/>
        </p:nvSpPr>
        <p:spPr>
          <a:xfrm>
            <a:off x="698500" y="18796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✓  서버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Online Scene: BasicRoom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등록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+ Client 0 is successfully validated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✓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클라이언트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로비 씬 언로드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/ BasicRoom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로드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/ C-MasterCanvas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소멸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(UI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자동 전환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✓  NetworkObjects = 5  |  Desktop(Clone) + mixamorig:Hips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아바타 룸에 스폰</a:t>
            </a:r>
          </a:p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✓  아바타 카메라 활성 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|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게임뷰에 룸 표시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7633E26-DF7F-4241-AD44-24905C9F5C70}"/>
              </a:ext>
            </a:extLst>
          </p:cNvPr>
          <p:cNvCxnSpPr/>
          <p:nvPr/>
        </p:nvCxnSpPr>
        <p:spPr>
          <a:xfrm>
            <a:off x="698500" y="5397500"/>
            <a:ext cx="10795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41FF64-2604-438B-A631-9E35F473CB3A}"/>
              </a:ext>
            </a:extLst>
          </p:cNvPr>
          <p:cNvSpPr txBox="1"/>
          <p:nvPr/>
        </p:nvSpPr>
        <p:spPr>
          <a:xfrm>
            <a:off x="698500" y="54991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ko-KR" altLang="en-US" b="1">
                <a:solidFill>
                  <a:srgbClr val="A8BCE8"/>
                </a:solidFill>
                <a:latin typeface="Pretendard" panose="02000803000000020004" pitchFamily="50" charset="-127"/>
              </a:rPr>
              <a:t>결론</a:t>
            </a:r>
            <a:r>
              <a:rPr lang="en-US" altLang="ko-KR" b="1">
                <a:solidFill>
                  <a:srgbClr val="A8BCE8"/>
                </a:solidFill>
                <a:latin typeface="Pretendard" panose="02000803000000020004" pitchFamily="50" charset="-127"/>
              </a:rPr>
              <a:t>: </a:t>
            </a:r>
            <a:r>
              <a:rPr lang="ko-KR" altLang="en-US" b="1">
                <a:solidFill>
                  <a:srgbClr val="A8BCE8"/>
                </a:solidFill>
                <a:latin typeface="Pretendard" panose="02000803000000020004" pitchFamily="50" charset="-127"/>
              </a:rPr>
              <a:t>문서</a:t>
            </a:r>
            <a:r>
              <a:rPr lang="en-US" altLang="ko-KR" b="1">
                <a:solidFill>
                  <a:srgbClr val="A8BCE8"/>
                </a:solidFill>
                <a:latin typeface="Pretendard" panose="02000803000000020004" pitchFamily="50" charset="-127"/>
              </a:rPr>
              <a:t>/</a:t>
            </a:r>
            <a:r>
              <a:rPr lang="ko-KR" altLang="en-US" b="1">
                <a:solidFill>
                  <a:srgbClr val="A8BCE8"/>
                </a:solidFill>
                <a:latin typeface="Pretendard" panose="02000803000000020004" pitchFamily="50" charset="-127"/>
              </a:rPr>
              <a:t>패키지만으로 작동 룸 재현 가능 </a:t>
            </a:r>
            <a:r>
              <a:rPr lang="en-US" altLang="ko-KR" b="1">
                <a:solidFill>
                  <a:srgbClr val="A8BCE8"/>
                </a:solidFill>
                <a:latin typeface="Pretendard" panose="02000803000000020004" pitchFamily="50" charset="-127"/>
              </a:rPr>
              <a:t>— </a:t>
            </a:r>
            <a:r>
              <a:rPr lang="ko-KR" altLang="en-US" b="1">
                <a:solidFill>
                  <a:srgbClr val="A8BCE8"/>
                </a:solidFill>
                <a:latin typeface="Pretendard" panose="02000803000000020004" pitchFamily="50" charset="-127"/>
              </a:rPr>
              <a:t>성립</a:t>
            </a:r>
          </a:p>
        </p:txBody>
      </p:sp>
    </p:spTree>
    <p:extLst>
      <p:ext uri="{BB962C8B-B14F-4D97-AF65-F5344CB8AC3E}">
        <p14:creationId xmlns:p14="http://schemas.microsoft.com/office/powerpoint/2010/main" val="55203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BB91354-CEFC-410C-A163-E98C7B5FE63F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819121D-7E82-455F-8CAC-0E27C158CCCE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Making It AI-readable: C1~C4 Invariants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2A3CA01-14E9-4961-9A19-6810F1FD4E26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11506E-8A84-4C71-9BCE-E2FB91C9F76C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6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6E64BF8-1062-49FF-A547-4FD981DF6D18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0963E93-E493-495D-B482-DC59BAC22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00088"/>
              </p:ext>
            </p:extLst>
          </p:nvPr>
        </p:nvGraphicFramePr>
        <p:xfrm>
          <a:off x="635000" y="1422400"/>
          <a:ext cx="1092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2709077477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222740408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35867155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불변식</a:t>
                      </a: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위반 시 증상</a:t>
                      </a: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26279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C1 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컬렉션 일치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서버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·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클라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NM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모두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DefaultPrefabObjects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동일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입장은 되나 아바타 안 보임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58238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C2 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플레이어 스포너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XumPlayerSpawner + prefab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인스턴스 필수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입장 검증 실패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71972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C3 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씬 전환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_offlineScene=Client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명시 필수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로비가 룸 위에 남음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2337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C4 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토폴로지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서버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=Master+Room exe /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클라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=Client+Room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동시 로드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연결 불가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940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599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EFC550D-0DED-4074-8F7D-9E62C9649B8F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7DC317-6EAD-4B14-A63B-EC73970C379E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Critical Finding: Spawner Must Be a Prefab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CABED9C-5CD5-438B-8248-DB0834B42B56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A84CDDF-6506-4161-BF5E-E56BE76AED96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7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5A7F602-2F96-4AAA-A6A9-7C822E8E2BB7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0FC446-1058-45D8-A08A-D709A5A8840C}"/>
              </a:ext>
            </a:extLst>
          </p:cNvPr>
          <p:cNvSpPr txBox="1"/>
          <p:nvPr/>
        </p:nvSpPr>
        <p:spPr>
          <a:xfrm>
            <a:off x="698500" y="1346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스포너를 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AddComponent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방식으로 만들면 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AI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가 생성한 룸은 항상 입장 실패한다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.</a:t>
            </a:r>
            <a:endParaRPr lang="ko-KR" altLang="en-US" sz="13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B17B0-0CED-4997-A842-40217CC14CA2}"/>
              </a:ext>
            </a:extLst>
          </p:cNvPr>
          <p:cNvSpPr txBox="1"/>
          <p:nvPr/>
        </p:nvSpPr>
        <p:spPr>
          <a:xfrm>
            <a:off x="698500" y="18796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문제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스크립트로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AddComponent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시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NetworkObject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가 유효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scene id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를 못 받음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증상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클라이언트 입장 시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"Failed to confirm the access"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거부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(ReproRoom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실측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해결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Room-PlayerSpawner.prefab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으로 패키지화 →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prefab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인스턴스화로만 허용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의미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AI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조립 과정에서 반드시 따라야 하는 명시적 프레임워크 규칙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3195AC1-6BA6-4455-ABE0-D418F9D8458E}"/>
              </a:ext>
            </a:extLst>
          </p:cNvPr>
          <p:cNvCxnSpPr/>
          <p:nvPr/>
        </p:nvCxnSpPr>
        <p:spPr>
          <a:xfrm>
            <a:off x="698500" y="5181600"/>
            <a:ext cx="10795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A6D6794-BA66-4AE8-BA94-7E873C458F9D}"/>
              </a:ext>
            </a:extLst>
          </p:cNvPr>
          <p:cNvSpPr txBox="1"/>
          <p:nvPr/>
        </p:nvSpPr>
        <p:spPr>
          <a:xfrm>
            <a:off x="698500" y="5283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2000" b="1">
                <a:solidFill>
                  <a:srgbClr val="A8BCE8"/>
                </a:solidFill>
                <a:latin typeface="Pretendard" panose="02000803000000020004" pitchFamily="50" charset="-127"/>
              </a:rPr>
              <a:t>AI does not need more code generation; it needs correct framework rules.</a:t>
            </a:r>
            <a:endParaRPr lang="ko-KR" altLang="en-US" sz="2000" b="1">
              <a:solidFill>
                <a:srgbClr val="A8BCE8"/>
              </a:solidFill>
              <a:latin typeface="Pretendard" panose="020008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07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AA0CCC0-0ACC-4A02-A36C-6AED230ECFBB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30B601-AC2D-4E90-8A26-AE73711949F9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Content Modularity: RoomCore + Features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E2595EC-EBD1-449E-AC7D-6FAD8A561D3A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FACEAD-8620-4F1F-8306-CA795EC321F8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8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65F258B-7258-4D98-9E2C-28051C1FD3B6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8EFC29-2EB8-4AA6-9D5D-AC3815C0BFE0}"/>
              </a:ext>
            </a:extLst>
          </p:cNvPr>
          <p:cNvSpPr txBox="1"/>
          <p:nvPr/>
        </p:nvSpPr>
        <p:spPr>
          <a:xfrm>
            <a:off x="698500" y="1346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코어는 얇게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,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기능은 자기등록으로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. </a:t>
            </a:r>
            <a:r>
              <a:rPr lang="ko-KR" altLang="en-US" sz="1300">
                <a:solidFill>
                  <a:srgbClr val="6F8FCC"/>
                </a:solidFill>
                <a:latin typeface="Pretendard Light" panose="02000403000000020004" pitchFamily="50" charset="-127"/>
              </a:rPr>
              <a:t>기능 하나하나를 프롬프트 기반 모듈로 만들 수 있다</a:t>
            </a:r>
            <a:r>
              <a:rPr lang="en-US" altLang="ko-KR" sz="1300">
                <a:solidFill>
                  <a:srgbClr val="6F8FCC"/>
                </a:solidFill>
                <a:latin typeface="Pretendard Light" panose="02000403000000020004" pitchFamily="50" charset="-127"/>
              </a:rPr>
              <a:t>.</a:t>
            </a:r>
            <a:endParaRPr lang="ko-KR" altLang="en-US" sz="13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50930-D673-4F6E-99E3-13E05971FF1E}"/>
              </a:ext>
            </a:extLst>
          </p:cNvPr>
          <p:cNvSpPr txBox="1"/>
          <p:nvPr/>
        </p:nvSpPr>
        <p:spPr>
          <a:xfrm>
            <a:off x="698500" y="18796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SYSTEMS (Core): RoomCore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는 기능을 컴파일타임에 모름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— IRoomCore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서비스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+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레지스트리 제공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FEATURES (Content): IToggleableContent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로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RoomCore.Instance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에 자기등록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.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빼도 코어가 깨지지 않음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파일럿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RulerContent —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두 점 측정선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+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거리 라벨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(4.00m)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렌더 확인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. DeepChairProject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의존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0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•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씬 계층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: SYSTEMS / ENVIRONMENT / UI / FEATURES / _DYNAMIC</a:t>
            </a:r>
            <a:endParaRPr lang="ko-KR" altLang="en-US" sz="1700">
              <a:solidFill>
                <a:srgbClr val="FFFFFF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0DDEB3-4E2B-4BFF-89E2-079C9D9B4799}"/>
              </a:ext>
            </a:extLst>
          </p:cNvPr>
          <p:cNvCxnSpPr/>
          <p:nvPr/>
        </p:nvCxnSpPr>
        <p:spPr>
          <a:xfrm>
            <a:off x="698500" y="5435600"/>
            <a:ext cx="10795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2CFA3A-2846-4CAB-B706-300DF9A2DE27}"/>
              </a:ext>
            </a:extLst>
          </p:cNvPr>
          <p:cNvSpPr txBox="1"/>
          <p:nvPr/>
        </p:nvSpPr>
        <p:spPr>
          <a:xfrm>
            <a:off x="698500" y="5537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b="1">
                <a:solidFill>
                  <a:srgbClr val="A8BCE8"/>
                </a:solidFill>
                <a:latin typeface="Pretendard" panose="02000803000000020004" pitchFamily="50" charset="-127"/>
              </a:rPr>
              <a:t>Features can become prompt-generated modules, not hardcoded sample code.</a:t>
            </a:r>
            <a:endParaRPr lang="ko-KR" altLang="en-US" b="1">
              <a:solidFill>
                <a:srgbClr val="A8BCE8"/>
              </a:solidFill>
              <a:latin typeface="Pretendard" panose="020008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54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3A40DEE-605C-4C79-A821-5C1A03215188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F6FD294-584D-4211-BC3D-F8ECDBEA2D55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Before vs. After: Redefining XRCollabDemo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C0DE95F-A0C1-4804-9E7B-B6C25EE4F025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B70C44A-9ED6-4357-A564-740C77710507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9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CDCCAC5-575C-4DF6-89DE-554B6FA8A110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0B4AC41-84EA-4050-A9B5-A6706E41D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656154"/>
              </p:ext>
            </p:extLst>
          </p:nvPr>
        </p:nvGraphicFramePr>
        <p:xfrm>
          <a:off x="635000" y="1422400"/>
          <a:ext cx="10922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3409863156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121065148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955370176"/>
                    </a:ext>
                  </a:extLst>
                </a:gridCol>
              </a:tblGrid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항목</a:t>
                      </a: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Before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Pretendard" panose="02000803000000020004" pitchFamily="50" charset="-127"/>
                      </a:endParaRP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After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Pretendard" panose="02000803000000020004" pitchFamily="50" charset="-127"/>
                      </a:endParaRP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01950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접근 방식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다운로드하고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Unity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에서 실행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프롬프트로 룸 조립 요청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599217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구조 파악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사람이 씬을 직접 열고 확인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문서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·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계약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·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불변식이 명시됨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035574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기능 추가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코드 직접 수정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Content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모듈 자기등록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183132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검증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수동 실행 확인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C1~C4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자동 검증 가능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375791"/>
                  </a:ext>
                </a:extLst>
              </a:tr>
              <a:tr h="7831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샘플의 역할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정적 참고 프로젝트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OXR SDK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의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AI-ready best sample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527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887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08DED52-94C4-4E78-9FBD-0B68473A4D7F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1D886B-337E-461D-A3D4-33944354D586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Roadmap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1291671-5D07-4C3E-BE20-FC9A692D3000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721958A-BCB0-4627-9747-B166E0307C34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10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14F187B-D868-4DC2-8C40-26210B2126AB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D5502E4-89F4-49E6-A0B5-45FB9F356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556887"/>
              </p:ext>
            </p:extLst>
          </p:nvPr>
        </p:nvGraphicFramePr>
        <p:xfrm>
          <a:off x="635000" y="1371600"/>
          <a:ext cx="109220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3059758735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585425455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539649585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Phase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Pretendard" panose="02000803000000020004" pitchFamily="50" charset="-127"/>
                      </a:endParaRP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목표</a:t>
                      </a: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 panose="02000803000000020004" pitchFamily="50" charset="-127"/>
                        </a:rPr>
                        <a:t>핵심 산출물</a:t>
                      </a:r>
                    </a:p>
                  </a:txBody>
                  <a:tcPr anchor="ctr">
                    <a:solidFill>
                      <a:srgbClr val="0F3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105861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Phase 3  Launchpad UI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레지스트리 기반 기능 토글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UI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아이콘 그리드 →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SetEnabled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991234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Phase 4  Skills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LLM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기반 기능 생성 스킬화</a:t>
                      </a: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/RoomContent-&lt;feature&gt;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A4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46069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Phase 5  PromptScene</a:t>
                      </a:r>
                      <a:endParaRPr lang="ko-KR" altLang="en-US" sz="1200" b="0">
                        <a:solidFill>
                          <a:srgbClr val="FFFFFF"/>
                        </a:solidFill>
                        <a:latin typeface="Pretendard Light" panose="02000403000000020004" pitchFamily="50" charset="-127"/>
                      </a:endParaRP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자연어 → 룸 조립 </a:t>
                      </a:r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+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자동 검증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/promptscene + C1~C4 </a:t>
                      </a: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Light" panose="02000403000000020004" pitchFamily="50" charset="-127"/>
                        </a:rPr>
                        <a:t>하네스</a:t>
                      </a:r>
                    </a:p>
                  </a:txBody>
                  <a:tcPr anchor="ctr">
                    <a:solidFill>
                      <a:srgbClr val="1E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8913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82D272-E97B-452B-8A8E-4B9B929E09EA}"/>
              </a:ext>
            </a:extLst>
          </p:cNvPr>
          <p:cNvSpPr txBox="1"/>
          <p:nvPr/>
        </p:nvSpPr>
        <p:spPr>
          <a:xfrm>
            <a:off x="698500" y="4546600"/>
            <a:ext cx="2540000" cy="3810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ko-KR" altLang="en-US" sz="1300" b="1">
                <a:solidFill>
                  <a:srgbClr val="6F8FCC"/>
                </a:solidFill>
                <a:latin typeface="Pretendard" panose="02000803000000020004" pitchFamily="50" charset="-127"/>
              </a:rPr>
              <a:t>현재 완료</a:t>
            </a:r>
            <a:r>
              <a:rPr lang="en-US" altLang="ko-KR" sz="1300" b="1">
                <a:solidFill>
                  <a:srgbClr val="6F8FCC"/>
                </a:solidFill>
                <a:latin typeface="Pretendard" panose="02000803000000020004" pitchFamily="50" charset="-127"/>
              </a:rPr>
              <a:t>:</a:t>
            </a:r>
            <a:endParaRPr lang="ko-KR" altLang="en-US" sz="1300" b="1">
              <a:solidFill>
                <a:srgbClr val="6F8FCC"/>
              </a:solidFill>
              <a:latin typeface="Pretendard" panose="020008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16E2D-587D-4D07-A863-68D4B885C6E8}"/>
              </a:ext>
            </a:extLst>
          </p:cNvPr>
          <p:cNvSpPr txBox="1"/>
          <p:nvPr/>
        </p:nvSpPr>
        <p:spPr>
          <a:xfrm>
            <a:off x="698500" y="49530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FFFFFF"/>
                </a:solidFill>
                <a:latin typeface="Pretendard Light" panose="02000403000000020004" pitchFamily="50" charset="-127"/>
              </a:rPr>
              <a:t>✓  문서 기반 재현성 </a:t>
            </a:r>
            <a:r>
              <a:rPr lang="en-US" altLang="ko-KR" sz="1400">
                <a:solidFill>
                  <a:srgbClr val="FFFFFF"/>
                </a:solidFill>
                <a:latin typeface="Pretendard Light" panose="02000403000000020004" pitchFamily="50" charset="-127"/>
              </a:rPr>
              <a:t>(BasicRoom)          ✓  C1~C4 </a:t>
            </a:r>
            <a:r>
              <a:rPr lang="ko-KR" altLang="en-US" sz="1400">
                <a:solidFill>
                  <a:srgbClr val="FFFFFF"/>
                </a:solidFill>
                <a:latin typeface="Pretendard Light" panose="02000403000000020004" pitchFamily="50" charset="-127"/>
              </a:rPr>
              <a:t>명시적 불변식</a:t>
            </a:r>
          </a:p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FFFFFF"/>
                </a:solidFill>
                <a:latin typeface="Pretendard Light" panose="02000403000000020004" pitchFamily="50" charset="-127"/>
              </a:rPr>
              <a:t>✓  </a:t>
            </a:r>
            <a:r>
              <a:rPr lang="en-US" altLang="ko-KR" sz="1400">
                <a:solidFill>
                  <a:srgbClr val="FFFFFF"/>
                </a:solidFill>
                <a:latin typeface="Pretendard Light" panose="02000403000000020004" pitchFamily="50" charset="-127"/>
              </a:rPr>
              <a:t>RoomCore + IToggleableContent    ✓  RulerContent </a:t>
            </a:r>
            <a:r>
              <a:rPr lang="ko-KR" altLang="en-US" sz="1400">
                <a:solidFill>
                  <a:srgbClr val="FFFFFF"/>
                </a:solidFill>
                <a:latin typeface="Pretendard Light" panose="02000403000000020004" pitchFamily="50" charset="-127"/>
              </a:rPr>
              <a:t>파일럿</a:t>
            </a:r>
          </a:p>
        </p:txBody>
      </p:sp>
    </p:spTree>
    <p:extLst>
      <p:ext uri="{BB962C8B-B14F-4D97-AF65-F5344CB8AC3E}">
        <p14:creationId xmlns:p14="http://schemas.microsoft.com/office/powerpoint/2010/main" val="609022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E823581-6859-4C9B-9542-277EBB7FFC24}"/>
              </a:ext>
            </a:extLst>
          </p:cNvPr>
          <p:cNvCxnSpPr/>
          <p:nvPr/>
        </p:nvCxnSpPr>
        <p:spPr>
          <a:xfrm>
            <a:off x="508000" y="330200"/>
            <a:ext cx="11176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E8BB709-4E0B-4D21-8D7B-C9992AEDC8F9}"/>
              </a:ext>
            </a:extLst>
          </p:cNvPr>
          <p:cNvSpPr txBox="1"/>
          <p:nvPr/>
        </p:nvSpPr>
        <p:spPr>
          <a:xfrm>
            <a:off x="635000" y="431800"/>
            <a:ext cx="10922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altLang="ko-KR" sz="2700" b="1">
                <a:solidFill>
                  <a:srgbClr val="FFFFFF"/>
                </a:solidFill>
                <a:latin typeface="Pretendard" panose="02000803000000020004" pitchFamily="50" charset="-127"/>
              </a:rPr>
              <a:t>Conclusion: Foundation Is Proven</a:t>
            </a:r>
            <a:endParaRPr lang="ko-KR" altLang="en-US" sz="27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6207175-E128-45F7-A5C4-086313CF7E5D}"/>
              </a:ext>
            </a:extLst>
          </p:cNvPr>
          <p:cNvCxnSpPr/>
          <p:nvPr/>
        </p:nvCxnSpPr>
        <p:spPr>
          <a:xfrm>
            <a:off x="635000" y="1219200"/>
            <a:ext cx="10922000" cy="0"/>
          </a:xfrm>
          <a:prstGeom prst="line">
            <a:avLst/>
          </a:prstGeom>
          <a:ln w="952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B3ECFDC-C435-41BB-A046-D5A7293D5683}"/>
              </a:ext>
            </a:extLst>
          </p:cNvPr>
          <p:cNvSpPr txBox="1"/>
          <p:nvPr/>
        </p:nvSpPr>
        <p:spPr>
          <a:xfrm>
            <a:off x="10922000" y="6540500"/>
            <a:ext cx="1016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r"/>
            <a:r>
              <a:rPr lang="en-US" altLang="ko-KR" sz="1000">
                <a:solidFill>
                  <a:srgbClr val="6F8FCC"/>
                </a:solidFill>
                <a:latin typeface="Pretendard Light" panose="02000403000000020004" pitchFamily="50" charset="-127"/>
              </a:rPr>
              <a:t>11 / 11</a:t>
            </a:r>
            <a:endParaRPr lang="ko-KR" altLang="en-US" sz="1000">
              <a:solidFill>
                <a:srgbClr val="6F8FCC"/>
              </a:solidFill>
              <a:latin typeface="Pretendard Light" panose="0200040300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16E170D-16E0-4C12-835C-2A4B8777464F}"/>
              </a:ext>
            </a:extLst>
          </p:cNvPr>
          <p:cNvCxnSpPr/>
          <p:nvPr/>
        </p:nvCxnSpPr>
        <p:spPr>
          <a:xfrm>
            <a:off x="508000" y="6477000"/>
            <a:ext cx="11176000" cy="0"/>
          </a:xfrm>
          <a:prstGeom prst="line">
            <a:avLst/>
          </a:prstGeom>
          <a:ln w="3175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17B51F0-704F-4CA5-B043-BBE5CC537B72}"/>
              </a:ext>
            </a:extLst>
          </p:cNvPr>
          <p:cNvSpPr txBox="1"/>
          <p:nvPr/>
        </p:nvSpPr>
        <p:spPr>
          <a:xfrm>
            <a:off x="698500" y="13716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A8BCE8"/>
                </a:solidFill>
                <a:latin typeface="Pretendard" panose="02000803000000020004" pitchFamily="50" charset="-127"/>
              </a:rPr>
              <a:t>Not fully productized yet — but the foundation is proven.</a:t>
            </a:r>
            <a:endParaRPr lang="ko-KR" altLang="en-US" sz="2200" b="1">
              <a:solidFill>
                <a:srgbClr val="A8BCE8"/>
              </a:solidFill>
              <a:latin typeface="Pretendard" panose="020008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1FC372D-3D54-429E-90DA-54CAA1A806B3}"/>
              </a:ext>
            </a:extLst>
          </p:cNvPr>
          <p:cNvCxnSpPr/>
          <p:nvPr/>
        </p:nvCxnSpPr>
        <p:spPr>
          <a:xfrm>
            <a:off x="2540000" y="2006600"/>
            <a:ext cx="7112000" cy="0"/>
          </a:xfrm>
          <a:prstGeom prst="line">
            <a:avLst/>
          </a:prstGeom>
          <a:ln w="508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EFC8196-79C2-4A2D-B84F-42CC7E6CC48E}"/>
              </a:ext>
            </a:extLst>
          </p:cNvPr>
          <p:cNvSpPr txBox="1"/>
          <p:nvPr/>
        </p:nvSpPr>
        <p:spPr>
          <a:xfrm>
            <a:off x="698500" y="21590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✓  문서 기반 재현성 →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BasicRoom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실측 확인</a:t>
            </a:r>
          </a:p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✓  명시적 계약과 불변식 →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C1~C4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정리</a:t>
            </a:r>
          </a:p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✓  모듈형 콘텐츠 구조 → 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RoomCore + IToggleableContent</a:t>
            </a:r>
          </a:p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✓  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런타임 검증 가능성 → 서버</a:t>
            </a:r>
            <a:r>
              <a:rPr lang="en-US" altLang="ko-KR" sz="1700">
                <a:solidFill>
                  <a:srgbClr val="FFFFFF"/>
                </a:solidFill>
                <a:latin typeface="Pretendard Light" panose="02000403000000020004" pitchFamily="50" charset="-127"/>
              </a:rPr>
              <a:t>·</a:t>
            </a:r>
            <a:r>
              <a:rPr lang="ko-KR" altLang="en-US" sz="1700">
                <a:solidFill>
                  <a:srgbClr val="FFFFFF"/>
                </a:solidFill>
                <a:latin typeface="Pretendard Light" panose="02000403000000020004" pitchFamily="50" charset="-127"/>
              </a:rPr>
              <a:t>클라이언트 전 구간 실측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42950A2-7276-40ED-BB01-EB6B42ED3CFE}"/>
              </a:ext>
            </a:extLst>
          </p:cNvPr>
          <p:cNvCxnSpPr/>
          <p:nvPr/>
        </p:nvCxnSpPr>
        <p:spPr>
          <a:xfrm>
            <a:off x="698500" y="4673600"/>
            <a:ext cx="10795000" cy="0"/>
          </a:xfrm>
          <a:prstGeom prst="line">
            <a:avLst/>
          </a:prstGeom>
          <a:ln w="6350">
            <a:solidFill>
              <a:srgbClr val="6F8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75A211-6D50-4AFB-935E-646698061579}"/>
              </a:ext>
            </a:extLst>
          </p:cNvPr>
          <p:cNvSpPr txBox="1"/>
          <p:nvPr/>
        </p:nvSpPr>
        <p:spPr>
          <a:xfrm>
            <a:off x="698500" y="47752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b="1">
                <a:solidFill>
                  <a:srgbClr val="A8BCE8"/>
                </a:solidFill>
                <a:latin typeface="Pretendard" panose="02000803000000020004" pitchFamily="50" charset="-127"/>
              </a:rPr>
              <a:t>Static sample project</a:t>
            </a:r>
            <a:endParaRPr lang="ko-KR" altLang="en-US" b="1">
              <a:solidFill>
                <a:srgbClr val="A8BCE8"/>
              </a:solidFill>
              <a:latin typeface="Pretendard" panose="020008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834C7-EBA6-4397-88AC-D3456436D27E}"/>
              </a:ext>
            </a:extLst>
          </p:cNvPr>
          <p:cNvSpPr txBox="1"/>
          <p:nvPr/>
        </p:nvSpPr>
        <p:spPr>
          <a:xfrm>
            <a:off x="698500" y="5461000"/>
            <a:ext cx="10795000" cy="36933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Pretendard" panose="02000803000000020004" pitchFamily="50" charset="-127"/>
              </a:rPr>
              <a:t>→  Prompt-based AI-ready framework sample</a:t>
            </a:r>
            <a:endParaRPr lang="ko-KR" altLang="en-US" sz="2200" b="1">
              <a:solidFill>
                <a:srgbClr val="FFFFFF"/>
              </a:solidFill>
              <a:latin typeface="Pretendard" panose="020008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8432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</Words>
  <Application>Microsoft Office PowerPoint</Application>
  <PresentationFormat>사용자 지정</PresentationFormat>
  <Paragraphs>149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Pretendard</vt:lpstr>
      <vt:lpstr>Pretendard Light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master</dc:creator>
  <cp:lastModifiedBy>master</cp:lastModifiedBy>
  <cp:revision>1</cp:revision>
  <dcterms:created xsi:type="dcterms:W3CDTF">2026-06-15T02:29:58Z</dcterms:created>
  <dcterms:modified xsi:type="dcterms:W3CDTF">2026-06-15T02:29:58Z</dcterms:modified>
</cp:coreProperties>
</file>